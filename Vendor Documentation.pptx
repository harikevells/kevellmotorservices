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63" r:id="rId3"/>
    <p:sldId id="264" r:id="rId4"/>
    <p:sldId id="265" r:id="rId5"/>
    <p:sldId id="266" r:id="rId6"/>
    <p:sldId id="268" r:id="rId7"/>
    <p:sldId id="267" r:id="rId8"/>
    <p:sldId id="260" r:id="rId9"/>
    <p:sldId id="261" r:id="rId10"/>
    <p:sldId id="262" r:id="rId11"/>
    <p:sldId id="259" r:id="rId12"/>
    <p:sldId id="258" r:id="rId13"/>
    <p:sldId id="270" r:id="rId14"/>
    <p:sldId id="271" r:id="rId15"/>
    <p:sldId id="269"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8" d="100"/>
          <a:sy n="58" d="100"/>
        </p:scale>
        <p:origin x="156"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C1FFA1-0593-4F83-B43B-84D789A9E685}" type="datetimeFigureOut">
              <a:rPr lang="en-US" smtClean="0"/>
              <a:t>6/1/2026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325343-4AE8-4382-90C9-46FB491411B2}" type="slidenum">
              <a:rPr lang="en-US" smtClean="0"/>
              <a:t>‹#›</a:t>
            </a:fld>
            <a:endParaRPr lang="en-US"/>
          </a:p>
        </p:txBody>
      </p:sp>
    </p:spTree>
    <p:extLst>
      <p:ext uri="{BB962C8B-B14F-4D97-AF65-F5344CB8AC3E}">
        <p14:creationId xmlns:p14="http://schemas.microsoft.com/office/powerpoint/2010/main" val="2221322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325343-4AE8-4382-90C9-46FB491411B2}" type="slidenum">
              <a:rPr lang="en-US" smtClean="0"/>
              <a:t>16</a:t>
            </a:fld>
            <a:endParaRPr lang="en-US"/>
          </a:p>
        </p:txBody>
      </p:sp>
    </p:spTree>
    <p:extLst>
      <p:ext uri="{BB962C8B-B14F-4D97-AF65-F5344CB8AC3E}">
        <p14:creationId xmlns:p14="http://schemas.microsoft.com/office/powerpoint/2010/main" val="4228568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DFEA6-B664-8E34-CC35-50AC1C864FD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FC5F18A-842B-E35A-1726-98ABE46C99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9CBE292-5F4D-8629-3282-0B02AD799492}"/>
              </a:ext>
            </a:extLst>
          </p:cNvPr>
          <p:cNvSpPr>
            <a:spLocks noGrp="1"/>
          </p:cNvSpPr>
          <p:nvPr>
            <p:ph type="dt" sz="half" idx="10"/>
          </p:nvPr>
        </p:nvSpPr>
        <p:spPr/>
        <p:txBody>
          <a:bodyPr/>
          <a:lstStyle/>
          <a:p>
            <a:fld id="{08EAA091-6C69-4299-84D2-655EC2DB9CE4}" type="datetimeFigureOut">
              <a:rPr lang="en-US" smtClean="0"/>
              <a:t>6/1/2026</a:t>
            </a:fld>
            <a:endParaRPr lang="en-US"/>
          </a:p>
        </p:txBody>
      </p:sp>
      <p:sp>
        <p:nvSpPr>
          <p:cNvPr id="5" name="Footer Placeholder 4">
            <a:extLst>
              <a:ext uri="{FF2B5EF4-FFF2-40B4-BE49-F238E27FC236}">
                <a16:creationId xmlns:a16="http://schemas.microsoft.com/office/drawing/2014/main" id="{08E99AA2-76F4-6B68-F5B5-1B49F5FEA8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419C59-1E05-05CD-7D60-6BB848136227}"/>
              </a:ext>
            </a:extLst>
          </p:cNvPr>
          <p:cNvSpPr>
            <a:spLocks noGrp="1"/>
          </p:cNvSpPr>
          <p:nvPr>
            <p:ph type="sldNum" sz="quarter" idx="12"/>
          </p:nvPr>
        </p:nvSpPr>
        <p:spPr/>
        <p:txBody>
          <a:bodyPr/>
          <a:lstStyle/>
          <a:p>
            <a:fld id="{9B642181-EFDE-4D3F-A9EE-3B4A235A4C5F}" type="slidenum">
              <a:rPr lang="en-US" smtClean="0"/>
              <a:t>‹#›</a:t>
            </a:fld>
            <a:endParaRPr lang="en-US"/>
          </a:p>
        </p:txBody>
      </p:sp>
    </p:spTree>
    <p:extLst>
      <p:ext uri="{BB962C8B-B14F-4D97-AF65-F5344CB8AC3E}">
        <p14:creationId xmlns:p14="http://schemas.microsoft.com/office/powerpoint/2010/main" val="1430913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11DEC-C664-51AE-0C77-3891A75DC36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4995988-DCAA-720F-9130-20A77D75AB4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8FFEF94-3C52-E08F-F2EA-D7AE856DDD1D}"/>
              </a:ext>
            </a:extLst>
          </p:cNvPr>
          <p:cNvSpPr>
            <a:spLocks noGrp="1"/>
          </p:cNvSpPr>
          <p:nvPr>
            <p:ph type="dt" sz="half" idx="10"/>
          </p:nvPr>
        </p:nvSpPr>
        <p:spPr/>
        <p:txBody>
          <a:bodyPr/>
          <a:lstStyle/>
          <a:p>
            <a:fld id="{08EAA091-6C69-4299-84D2-655EC2DB9CE4}" type="datetimeFigureOut">
              <a:rPr lang="en-US" smtClean="0"/>
              <a:t>6/1/2026</a:t>
            </a:fld>
            <a:endParaRPr lang="en-US"/>
          </a:p>
        </p:txBody>
      </p:sp>
      <p:sp>
        <p:nvSpPr>
          <p:cNvPr id="5" name="Footer Placeholder 4">
            <a:extLst>
              <a:ext uri="{FF2B5EF4-FFF2-40B4-BE49-F238E27FC236}">
                <a16:creationId xmlns:a16="http://schemas.microsoft.com/office/drawing/2014/main" id="{B5410182-ECE2-29D4-2FB8-D99A6E37D8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04618F-D65E-B7D8-7CF3-5B9F40FA5D13}"/>
              </a:ext>
            </a:extLst>
          </p:cNvPr>
          <p:cNvSpPr>
            <a:spLocks noGrp="1"/>
          </p:cNvSpPr>
          <p:nvPr>
            <p:ph type="sldNum" sz="quarter" idx="12"/>
          </p:nvPr>
        </p:nvSpPr>
        <p:spPr/>
        <p:txBody>
          <a:bodyPr/>
          <a:lstStyle/>
          <a:p>
            <a:fld id="{9B642181-EFDE-4D3F-A9EE-3B4A235A4C5F}" type="slidenum">
              <a:rPr lang="en-US" smtClean="0"/>
              <a:t>‹#›</a:t>
            </a:fld>
            <a:endParaRPr lang="en-US"/>
          </a:p>
        </p:txBody>
      </p:sp>
    </p:spTree>
    <p:extLst>
      <p:ext uri="{BB962C8B-B14F-4D97-AF65-F5344CB8AC3E}">
        <p14:creationId xmlns:p14="http://schemas.microsoft.com/office/powerpoint/2010/main" val="2186371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FA179-31FE-9D3A-F2F7-79B9E610BB7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02B469A-4214-1348-113B-14423BBD9B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B48A2B3-4085-1947-EBDB-369668E7E790}"/>
              </a:ext>
            </a:extLst>
          </p:cNvPr>
          <p:cNvSpPr>
            <a:spLocks noGrp="1"/>
          </p:cNvSpPr>
          <p:nvPr>
            <p:ph type="dt" sz="half" idx="10"/>
          </p:nvPr>
        </p:nvSpPr>
        <p:spPr/>
        <p:txBody>
          <a:bodyPr/>
          <a:lstStyle/>
          <a:p>
            <a:fld id="{08EAA091-6C69-4299-84D2-655EC2DB9CE4}" type="datetimeFigureOut">
              <a:rPr lang="en-US" smtClean="0"/>
              <a:t>6/1/2026</a:t>
            </a:fld>
            <a:endParaRPr lang="en-US"/>
          </a:p>
        </p:txBody>
      </p:sp>
      <p:sp>
        <p:nvSpPr>
          <p:cNvPr id="5" name="Footer Placeholder 4">
            <a:extLst>
              <a:ext uri="{FF2B5EF4-FFF2-40B4-BE49-F238E27FC236}">
                <a16:creationId xmlns:a16="http://schemas.microsoft.com/office/drawing/2014/main" id="{B68DA25A-1BA6-72EE-BD9A-68448C261D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405B1-CECA-B1AA-CCA7-4E49E48463B3}"/>
              </a:ext>
            </a:extLst>
          </p:cNvPr>
          <p:cNvSpPr>
            <a:spLocks noGrp="1"/>
          </p:cNvSpPr>
          <p:nvPr>
            <p:ph type="sldNum" sz="quarter" idx="12"/>
          </p:nvPr>
        </p:nvSpPr>
        <p:spPr/>
        <p:txBody>
          <a:bodyPr/>
          <a:lstStyle/>
          <a:p>
            <a:fld id="{9B642181-EFDE-4D3F-A9EE-3B4A235A4C5F}" type="slidenum">
              <a:rPr lang="en-US" smtClean="0"/>
              <a:t>‹#›</a:t>
            </a:fld>
            <a:endParaRPr lang="en-US"/>
          </a:p>
        </p:txBody>
      </p:sp>
    </p:spTree>
    <p:extLst>
      <p:ext uri="{BB962C8B-B14F-4D97-AF65-F5344CB8AC3E}">
        <p14:creationId xmlns:p14="http://schemas.microsoft.com/office/powerpoint/2010/main" val="3420953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7B895-B034-58E9-BE48-06EDDD4D5E3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0AEDADD-AA74-546E-6AB2-C65ED627C6D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B72FB9-913C-B0BC-221E-D5617A108AF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D1FFCD7-F6FE-EEAA-3F4F-8063DC84326C}"/>
              </a:ext>
            </a:extLst>
          </p:cNvPr>
          <p:cNvSpPr>
            <a:spLocks noGrp="1"/>
          </p:cNvSpPr>
          <p:nvPr>
            <p:ph type="dt" sz="half" idx="10"/>
          </p:nvPr>
        </p:nvSpPr>
        <p:spPr/>
        <p:txBody>
          <a:bodyPr/>
          <a:lstStyle/>
          <a:p>
            <a:fld id="{08EAA091-6C69-4299-84D2-655EC2DB9CE4}" type="datetimeFigureOut">
              <a:rPr lang="en-US" smtClean="0"/>
              <a:t>6/1/2026</a:t>
            </a:fld>
            <a:endParaRPr lang="en-US"/>
          </a:p>
        </p:txBody>
      </p:sp>
      <p:sp>
        <p:nvSpPr>
          <p:cNvPr id="6" name="Footer Placeholder 5">
            <a:extLst>
              <a:ext uri="{FF2B5EF4-FFF2-40B4-BE49-F238E27FC236}">
                <a16:creationId xmlns:a16="http://schemas.microsoft.com/office/drawing/2014/main" id="{628CEB12-00B7-8E95-A5AB-F420D047DF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537FE1-49EC-26C1-E8C2-F466DCC6CC69}"/>
              </a:ext>
            </a:extLst>
          </p:cNvPr>
          <p:cNvSpPr>
            <a:spLocks noGrp="1"/>
          </p:cNvSpPr>
          <p:nvPr>
            <p:ph type="sldNum" sz="quarter" idx="12"/>
          </p:nvPr>
        </p:nvSpPr>
        <p:spPr/>
        <p:txBody>
          <a:bodyPr/>
          <a:lstStyle/>
          <a:p>
            <a:fld id="{9B642181-EFDE-4D3F-A9EE-3B4A235A4C5F}" type="slidenum">
              <a:rPr lang="en-US" smtClean="0"/>
              <a:t>‹#›</a:t>
            </a:fld>
            <a:endParaRPr lang="en-US"/>
          </a:p>
        </p:txBody>
      </p:sp>
    </p:spTree>
    <p:extLst>
      <p:ext uri="{BB962C8B-B14F-4D97-AF65-F5344CB8AC3E}">
        <p14:creationId xmlns:p14="http://schemas.microsoft.com/office/powerpoint/2010/main" val="3055756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236C8-C828-E09B-960E-CCB2AF7BEE3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71D474C-4C44-4227-62D3-ED08416848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82EAC8F-8A83-A86F-7575-D8A6E11CE79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D2A1726-225D-A29B-9AEF-4C9D1D0125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D4DCCC6-F5A5-B0C4-D7E4-40B8DEB2154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64DAA9B-1D77-8FD2-DF5E-ACD78FEB8854}"/>
              </a:ext>
            </a:extLst>
          </p:cNvPr>
          <p:cNvSpPr>
            <a:spLocks noGrp="1"/>
          </p:cNvSpPr>
          <p:nvPr>
            <p:ph type="dt" sz="half" idx="10"/>
          </p:nvPr>
        </p:nvSpPr>
        <p:spPr/>
        <p:txBody>
          <a:bodyPr/>
          <a:lstStyle/>
          <a:p>
            <a:fld id="{08EAA091-6C69-4299-84D2-655EC2DB9CE4}" type="datetimeFigureOut">
              <a:rPr lang="en-US" smtClean="0"/>
              <a:t>6/1/2026</a:t>
            </a:fld>
            <a:endParaRPr lang="en-US"/>
          </a:p>
        </p:txBody>
      </p:sp>
      <p:sp>
        <p:nvSpPr>
          <p:cNvPr id="8" name="Footer Placeholder 7">
            <a:extLst>
              <a:ext uri="{FF2B5EF4-FFF2-40B4-BE49-F238E27FC236}">
                <a16:creationId xmlns:a16="http://schemas.microsoft.com/office/drawing/2014/main" id="{02B1E53C-C279-89C5-C00C-4E918C1743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B9AC7AA-AA4D-72DD-EF63-638741095E5E}"/>
              </a:ext>
            </a:extLst>
          </p:cNvPr>
          <p:cNvSpPr>
            <a:spLocks noGrp="1"/>
          </p:cNvSpPr>
          <p:nvPr>
            <p:ph type="sldNum" sz="quarter" idx="12"/>
          </p:nvPr>
        </p:nvSpPr>
        <p:spPr/>
        <p:txBody>
          <a:bodyPr/>
          <a:lstStyle/>
          <a:p>
            <a:fld id="{9B642181-EFDE-4D3F-A9EE-3B4A235A4C5F}" type="slidenum">
              <a:rPr lang="en-US" smtClean="0"/>
              <a:t>‹#›</a:t>
            </a:fld>
            <a:endParaRPr lang="en-US"/>
          </a:p>
        </p:txBody>
      </p:sp>
    </p:spTree>
    <p:extLst>
      <p:ext uri="{BB962C8B-B14F-4D97-AF65-F5344CB8AC3E}">
        <p14:creationId xmlns:p14="http://schemas.microsoft.com/office/powerpoint/2010/main" val="4156083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C100D-3891-0D45-9725-54FAB4A6DB5B}"/>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FBD412D6-7D64-4851-3E13-A31B1F36D178}"/>
              </a:ext>
            </a:extLst>
          </p:cNvPr>
          <p:cNvSpPr>
            <a:spLocks noGrp="1"/>
          </p:cNvSpPr>
          <p:nvPr>
            <p:ph type="dt" sz="half" idx="10"/>
          </p:nvPr>
        </p:nvSpPr>
        <p:spPr/>
        <p:txBody>
          <a:bodyPr/>
          <a:lstStyle/>
          <a:p>
            <a:fld id="{08EAA091-6C69-4299-84D2-655EC2DB9CE4}" type="datetimeFigureOut">
              <a:rPr lang="en-US" smtClean="0"/>
              <a:t>6/1/2026</a:t>
            </a:fld>
            <a:endParaRPr lang="en-US"/>
          </a:p>
        </p:txBody>
      </p:sp>
      <p:sp>
        <p:nvSpPr>
          <p:cNvPr id="4" name="Footer Placeholder 3">
            <a:extLst>
              <a:ext uri="{FF2B5EF4-FFF2-40B4-BE49-F238E27FC236}">
                <a16:creationId xmlns:a16="http://schemas.microsoft.com/office/drawing/2014/main" id="{DD1E4876-D6E2-0B5F-6C5D-7EBF26DF3A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455A73-DF00-22EA-4D1B-6E18A79E3016}"/>
              </a:ext>
            </a:extLst>
          </p:cNvPr>
          <p:cNvSpPr>
            <a:spLocks noGrp="1"/>
          </p:cNvSpPr>
          <p:nvPr>
            <p:ph type="sldNum" sz="quarter" idx="12"/>
          </p:nvPr>
        </p:nvSpPr>
        <p:spPr/>
        <p:txBody>
          <a:bodyPr/>
          <a:lstStyle/>
          <a:p>
            <a:fld id="{9B642181-EFDE-4D3F-A9EE-3B4A235A4C5F}" type="slidenum">
              <a:rPr lang="en-US" smtClean="0"/>
              <a:t>‹#›</a:t>
            </a:fld>
            <a:endParaRPr lang="en-US"/>
          </a:p>
        </p:txBody>
      </p:sp>
    </p:spTree>
    <p:extLst>
      <p:ext uri="{BB962C8B-B14F-4D97-AF65-F5344CB8AC3E}">
        <p14:creationId xmlns:p14="http://schemas.microsoft.com/office/powerpoint/2010/main" val="1179202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7B3BCB-6624-97D5-4FD4-E5D2EB9E6022}"/>
              </a:ext>
            </a:extLst>
          </p:cNvPr>
          <p:cNvSpPr>
            <a:spLocks noGrp="1"/>
          </p:cNvSpPr>
          <p:nvPr>
            <p:ph type="dt" sz="half" idx="10"/>
          </p:nvPr>
        </p:nvSpPr>
        <p:spPr/>
        <p:txBody>
          <a:bodyPr/>
          <a:lstStyle/>
          <a:p>
            <a:fld id="{08EAA091-6C69-4299-84D2-655EC2DB9CE4}" type="datetimeFigureOut">
              <a:rPr lang="en-US" smtClean="0"/>
              <a:t>6/1/2026</a:t>
            </a:fld>
            <a:endParaRPr lang="en-US"/>
          </a:p>
        </p:txBody>
      </p:sp>
      <p:sp>
        <p:nvSpPr>
          <p:cNvPr id="3" name="Footer Placeholder 2">
            <a:extLst>
              <a:ext uri="{FF2B5EF4-FFF2-40B4-BE49-F238E27FC236}">
                <a16:creationId xmlns:a16="http://schemas.microsoft.com/office/drawing/2014/main" id="{BE4D3E1E-C638-947F-9A2D-BBB078349B3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A2DE2D-8F98-11AD-8191-1AFB19E51FF4}"/>
              </a:ext>
            </a:extLst>
          </p:cNvPr>
          <p:cNvSpPr>
            <a:spLocks noGrp="1"/>
          </p:cNvSpPr>
          <p:nvPr>
            <p:ph type="sldNum" sz="quarter" idx="12"/>
          </p:nvPr>
        </p:nvSpPr>
        <p:spPr/>
        <p:txBody>
          <a:bodyPr/>
          <a:lstStyle/>
          <a:p>
            <a:fld id="{9B642181-EFDE-4D3F-A9EE-3B4A235A4C5F}" type="slidenum">
              <a:rPr lang="en-US" smtClean="0"/>
              <a:t>‹#›</a:t>
            </a:fld>
            <a:endParaRPr lang="en-US"/>
          </a:p>
        </p:txBody>
      </p:sp>
    </p:spTree>
    <p:extLst>
      <p:ext uri="{BB962C8B-B14F-4D97-AF65-F5344CB8AC3E}">
        <p14:creationId xmlns:p14="http://schemas.microsoft.com/office/powerpoint/2010/main" val="1538169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9E207-6033-A58C-AD95-2C19A28284A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99708FC-8728-977B-4433-68DE79F41C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6743BBC-D049-AD9E-3515-C55628D219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1C1D3DF-33D8-EE20-B566-043F67EEC38B}"/>
              </a:ext>
            </a:extLst>
          </p:cNvPr>
          <p:cNvSpPr>
            <a:spLocks noGrp="1"/>
          </p:cNvSpPr>
          <p:nvPr>
            <p:ph type="dt" sz="half" idx="10"/>
          </p:nvPr>
        </p:nvSpPr>
        <p:spPr/>
        <p:txBody>
          <a:bodyPr/>
          <a:lstStyle/>
          <a:p>
            <a:fld id="{08EAA091-6C69-4299-84D2-655EC2DB9CE4}" type="datetimeFigureOut">
              <a:rPr lang="en-US" smtClean="0"/>
              <a:t>6/1/2026</a:t>
            </a:fld>
            <a:endParaRPr lang="en-US"/>
          </a:p>
        </p:txBody>
      </p:sp>
      <p:sp>
        <p:nvSpPr>
          <p:cNvPr id="6" name="Footer Placeholder 5">
            <a:extLst>
              <a:ext uri="{FF2B5EF4-FFF2-40B4-BE49-F238E27FC236}">
                <a16:creationId xmlns:a16="http://schemas.microsoft.com/office/drawing/2014/main" id="{98EC5EBA-8599-E9AB-4E16-BF13BA49EF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08D2F3-4BF5-9BB7-A10E-49D8CF974331}"/>
              </a:ext>
            </a:extLst>
          </p:cNvPr>
          <p:cNvSpPr>
            <a:spLocks noGrp="1"/>
          </p:cNvSpPr>
          <p:nvPr>
            <p:ph type="sldNum" sz="quarter" idx="12"/>
          </p:nvPr>
        </p:nvSpPr>
        <p:spPr/>
        <p:txBody>
          <a:bodyPr/>
          <a:lstStyle/>
          <a:p>
            <a:fld id="{9B642181-EFDE-4D3F-A9EE-3B4A235A4C5F}" type="slidenum">
              <a:rPr lang="en-US" smtClean="0"/>
              <a:t>‹#›</a:t>
            </a:fld>
            <a:endParaRPr lang="en-US"/>
          </a:p>
        </p:txBody>
      </p:sp>
    </p:spTree>
    <p:extLst>
      <p:ext uri="{BB962C8B-B14F-4D97-AF65-F5344CB8AC3E}">
        <p14:creationId xmlns:p14="http://schemas.microsoft.com/office/powerpoint/2010/main" val="892102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BC1C7-0A07-13E4-3680-CC1AE1B2E4F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6FA7999-6264-C3E4-E359-7F443FEEC7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9039209-6F8C-B18B-1E94-FD342E786E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ABE7270-35E4-D11B-D7B7-496EEFC84EB8}"/>
              </a:ext>
            </a:extLst>
          </p:cNvPr>
          <p:cNvSpPr>
            <a:spLocks noGrp="1"/>
          </p:cNvSpPr>
          <p:nvPr>
            <p:ph type="dt" sz="half" idx="10"/>
          </p:nvPr>
        </p:nvSpPr>
        <p:spPr/>
        <p:txBody>
          <a:bodyPr/>
          <a:lstStyle/>
          <a:p>
            <a:fld id="{08EAA091-6C69-4299-84D2-655EC2DB9CE4}" type="datetimeFigureOut">
              <a:rPr lang="en-US" smtClean="0"/>
              <a:t>6/1/2026</a:t>
            </a:fld>
            <a:endParaRPr lang="en-US"/>
          </a:p>
        </p:txBody>
      </p:sp>
      <p:sp>
        <p:nvSpPr>
          <p:cNvPr id="6" name="Footer Placeholder 5">
            <a:extLst>
              <a:ext uri="{FF2B5EF4-FFF2-40B4-BE49-F238E27FC236}">
                <a16:creationId xmlns:a16="http://schemas.microsoft.com/office/drawing/2014/main" id="{CB2506D9-0CFF-1922-4500-96727026F2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AC5D68-5D81-09BF-461E-A1C30D6BEAE8}"/>
              </a:ext>
            </a:extLst>
          </p:cNvPr>
          <p:cNvSpPr>
            <a:spLocks noGrp="1"/>
          </p:cNvSpPr>
          <p:nvPr>
            <p:ph type="sldNum" sz="quarter" idx="12"/>
          </p:nvPr>
        </p:nvSpPr>
        <p:spPr/>
        <p:txBody>
          <a:bodyPr/>
          <a:lstStyle/>
          <a:p>
            <a:fld id="{9B642181-EFDE-4D3F-A9EE-3B4A235A4C5F}" type="slidenum">
              <a:rPr lang="en-US" smtClean="0"/>
              <a:t>‹#›</a:t>
            </a:fld>
            <a:endParaRPr lang="en-US"/>
          </a:p>
        </p:txBody>
      </p:sp>
    </p:spTree>
    <p:extLst>
      <p:ext uri="{BB962C8B-B14F-4D97-AF65-F5344CB8AC3E}">
        <p14:creationId xmlns:p14="http://schemas.microsoft.com/office/powerpoint/2010/main" val="2498824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EF8B9-050C-9FDA-95FE-9A8EE9966D0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81F84C9-279C-C2F0-60C3-2A478461107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39F900C-3F10-2B7E-276A-EE58B8BF8800}"/>
              </a:ext>
            </a:extLst>
          </p:cNvPr>
          <p:cNvSpPr>
            <a:spLocks noGrp="1"/>
          </p:cNvSpPr>
          <p:nvPr>
            <p:ph type="dt" sz="half" idx="10"/>
          </p:nvPr>
        </p:nvSpPr>
        <p:spPr/>
        <p:txBody>
          <a:bodyPr/>
          <a:lstStyle/>
          <a:p>
            <a:fld id="{08EAA091-6C69-4299-84D2-655EC2DB9CE4}" type="datetimeFigureOut">
              <a:rPr lang="en-US" smtClean="0"/>
              <a:t>6/1/2026</a:t>
            </a:fld>
            <a:endParaRPr lang="en-US"/>
          </a:p>
        </p:txBody>
      </p:sp>
      <p:sp>
        <p:nvSpPr>
          <p:cNvPr id="5" name="Footer Placeholder 4">
            <a:extLst>
              <a:ext uri="{FF2B5EF4-FFF2-40B4-BE49-F238E27FC236}">
                <a16:creationId xmlns:a16="http://schemas.microsoft.com/office/drawing/2014/main" id="{3F4300E9-1949-EC6E-DD5A-0997EC2C98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8F9A51-208C-EC51-0067-D6219C2AB204}"/>
              </a:ext>
            </a:extLst>
          </p:cNvPr>
          <p:cNvSpPr>
            <a:spLocks noGrp="1"/>
          </p:cNvSpPr>
          <p:nvPr>
            <p:ph type="sldNum" sz="quarter" idx="12"/>
          </p:nvPr>
        </p:nvSpPr>
        <p:spPr/>
        <p:txBody>
          <a:bodyPr/>
          <a:lstStyle/>
          <a:p>
            <a:fld id="{9B642181-EFDE-4D3F-A9EE-3B4A235A4C5F}" type="slidenum">
              <a:rPr lang="en-US" smtClean="0"/>
              <a:t>‹#›</a:t>
            </a:fld>
            <a:endParaRPr lang="en-US"/>
          </a:p>
        </p:txBody>
      </p:sp>
    </p:spTree>
    <p:extLst>
      <p:ext uri="{BB962C8B-B14F-4D97-AF65-F5344CB8AC3E}">
        <p14:creationId xmlns:p14="http://schemas.microsoft.com/office/powerpoint/2010/main" val="1148547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3B8992-8E3C-5F43-FB80-B7E6C0D7E1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C45B9C3-BCDE-B540-4674-6A2A7AF1D65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946D054-3740-B528-9DB5-875E79DD7721}"/>
              </a:ext>
            </a:extLst>
          </p:cNvPr>
          <p:cNvSpPr>
            <a:spLocks noGrp="1"/>
          </p:cNvSpPr>
          <p:nvPr>
            <p:ph type="dt" sz="half" idx="10"/>
          </p:nvPr>
        </p:nvSpPr>
        <p:spPr/>
        <p:txBody>
          <a:bodyPr/>
          <a:lstStyle/>
          <a:p>
            <a:fld id="{08EAA091-6C69-4299-84D2-655EC2DB9CE4}" type="datetimeFigureOut">
              <a:rPr lang="en-US" smtClean="0"/>
              <a:t>6/1/2026</a:t>
            </a:fld>
            <a:endParaRPr lang="en-US"/>
          </a:p>
        </p:txBody>
      </p:sp>
      <p:sp>
        <p:nvSpPr>
          <p:cNvPr id="5" name="Footer Placeholder 4">
            <a:extLst>
              <a:ext uri="{FF2B5EF4-FFF2-40B4-BE49-F238E27FC236}">
                <a16:creationId xmlns:a16="http://schemas.microsoft.com/office/drawing/2014/main" id="{D42021DD-CFD7-B661-71A3-8709359950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778A37-D659-9276-2C99-C4C1D172243B}"/>
              </a:ext>
            </a:extLst>
          </p:cNvPr>
          <p:cNvSpPr>
            <a:spLocks noGrp="1"/>
          </p:cNvSpPr>
          <p:nvPr>
            <p:ph type="sldNum" sz="quarter" idx="12"/>
          </p:nvPr>
        </p:nvSpPr>
        <p:spPr/>
        <p:txBody>
          <a:bodyPr/>
          <a:lstStyle/>
          <a:p>
            <a:fld id="{9B642181-EFDE-4D3F-A9EE-3B4A235A4C5F}" type="slidenum">
              <a:rPr lang="en-US" smtClean="0"/>
              <a:t>‹#›</a:t>
            </a:fld>
            <a:endParaRPr lang="en-US"/>
          </a:p>
        </p:txBody>
      </p:sp>
    </p:spTree>
    <p:extLst>
      <p:ext uri="{BB962C8B-B14F-4D97-AF65-F5344CB8AC3E}">
        <p14:creationId xmlns:p14="http://schemas.microsoft.com/office/powerpoint/2010/main" val="3791363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D8AC10-4A00-4F9B-714F-69DD297E84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9F8115D-20B6-2FAC-4C9A-23D2B708CF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D43F83D-DABF-AA2A-8020-0AD08035DA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EAA091-6C69-4299-84D2-655EC2DB9CE4}" type="datetimeFigureOut">
              <a:rPr lang="en-US" smtClean="0"/>
              <a:t>6/1/2026</a:t>
            </a:fld>
            <a:endParaRPr lang="en-US"/>
          </a:p>
        </p:txBody>
      </p:sp>
      <p:sp>
        <p:nvSpPr>
          <p:cNvPr id="5" name="Footer Placeholder 4">
            <a:extLst>
              <a:ext uri="{FF2B5EF4-FFF2-40B4-BE49-F238E27FC236}">
                <a16:creationId xmlns:a16="http://schemas.microsoft.com/office/drawing/2014/main" id="{CD0D8D92-8DDA-D3A1-2535-DEBC4C901E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1B66E28-AD6E-F4B2-6CCC-B682446352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642181-EFDE-4D3F-A9EE-3B4A235A4C5F}" type="slidenum">
              <a:rPr lang="en-US" smtClean="0"/>
              <a:t>‹#›</a:t>
            </a:fld>
            <a:endParaRPr lang="en-US"/>
          </a:p>
        </p:txBody>
      </p:sp>
    </p:spTree>
    <p:extLst>
      <p:ext uri="{BB962C8B-B14F-4D97-AF65-F5344CB8AC3E}">
        <p14:creationId xmlns:p14="http://schemas.microsoft.com/office/powerpoint/2010/main" val="27299759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2B6BE-2F96-2E6B-F84A-009951228BD7}"/>
              </a:ext>
            </a:extLst>
          </p:cNvPr>
          <p:cNvSpPr>
            <a:spLocks noGrp="1"/>
          </p:cNvSpPr>
          <p:nvPr>
            <p:ph type="ctrTitle"/>
          </p:nvPr>
        </p:nvSpPr>
        <p:spPr>
          <a:xfrm>
            <a:off x="1" y="2324311"/>
            <a:ext cx="12192000" cy="2387600"/>
          </a:xfrm>
        </p:spPr>
        <p:txBody>
          <a:bodyPr>
            <a:normAutofit/>
          </a:bodyPr>
          <a:lstStyle/>
          <a:p>
            <a:r>
              <a:rPr lang="en-US" sz="4800" b="1" dirty="0">
                <a:latin typeface="Arial Black" panose="020B0A04020102020204" pitchFamily="34" charset="0"/>
              </a:rPr>
              <a:t>IWS VENDOR App - </a:t>
            </a:r>
            <a:r>
              <a:rPr lang="en-IN" sz="4800" b="1" dirty="0">
                <a:latin typeface="Arial Black" panose="020B0A04020102020204" pitchFamily="34" charset="0"/>
              </a:rPr>
              <a:t>VENDOR FLOW DOCUMENTATION</a:t>
            </a:r>
            <a:endParaRPr lang="en-US" sz="4800" b="1" dirty="0">
              <a:latin typeface="Arial Black" panose="020B0A04020102020204" pitchFamily="34" charset="0"/>
            </a:endParaRPr>
          </a:p>
        </p:txBody>
      </p:sp>
      <p:sp>
        <p:nvSpPr>
          <p:cNvPr id="3" name="Subtitle 2">
            <a:extLst>
              <a:ext uri="{FF2B5EF4-FFF2-40B4-BE49-F238E27FC236}">
                <a16:creationId xmlns:a16="http://schemas.microsoft.com/office/drawing/2014/main" id="{42AED44A-1987-D29E-77FA-A203490489A3}"/>
              </a:ext>
            </a:extLst>
          </p:cNvPr>
          <p:cNvSpPr>
            <a:spLocks noGrp="1"/>
          </p:cNvSpPr>
          <p:nvPr>
            <p:ph type="subTitle" idx="1"/>
          </p:nvPr>
        </p:nvSpPr>
        <p:spPr>
          <a:xfrm>
            <a:off x="1438940" y="6682563"/>
            <a:ext cx="9144000" cy="175437"/>
          </a:xfrm>
        </p:spPr>
        <p:txBody>
          <a:bodyPr>
            <a:normAutofit fontScale="25000" lnSpcReduction="20000"/>
          </a:bodyPr>
          <a:lstStyle/>
          <a:p>
            <a:endParaRPr lang="en-US" dirty="0"/>
          </a:p>
        </p:txBody>
      </p:sp>
      <p:pic>
        <p:nvPicPr>
          <p:cNvPr id="5" name="Picture 4">
            <a:extLst>
              <a:ext uri="{FF2B5EF4-FFF2-40B4-BE49-F238E27FC236}">
                <a16:creationId xmlns:a16="http://schemas.microsoft.com/office/drawing/2014/main" id="{3A4F5CD2-0BBA-3873-34B6-7477BFEFFF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7454" y="1626500"/>
            <a:ext cx="3477091" cy="1395621"/>
          </a:xfrm>
          <a:prstGeom prst="rect">
            <a:avLst/>
          </a:prstGeom>
        </p:spPr>
      </p:pic>
    </p:spTree>
    <p:extLst>
      <p:ext uri="{BB962C8B-B14F-4D97-AF65-F5344CB8AC3E}">
        <p14:creationId xmlns:p14="http://schemas.microsoft.com/office/powerpoint/2010/main" val="571875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BBA71-E228-F362-C5D7-7E9F2B2365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000D0B-E052-1738-2925-654FE69C30A5}"/>
              </a:ext>
            </a:extLst>
          </p:cNvPr>
          <p:cNvSpPr>
            <a:spLocks noGrp="1"/>
          </p:cNvSpPr>
          <p:nvPr>
            <p:ph type="title"/>
          </p:nvPr>
        </p:nvSpPr>
        <p:spPr>
          <a:xfrm>
            <a:off x="838200" y="365126"/>
            <a:ext cx="10515600" cy="528010"/>
          </a:xfrm>
        </p:spPr>
        <p:txBody>
          <a:bodyPr>
            <a:normAutofit fontScale="90000"/>
          </a:bodyPr>
          <a:lstStyle/>
          <a:p>
            <a:r>
              <a:rPr lang="en-US" b="1" dirty="0"/>
              <a:t>1. Vendor Registration</a:t>
            </a:r>
            <a:endParaRPr lang="en-US" dirty="0"/>
          </a:p>
        </p:txBody>
      </p:sp>
      <p:sp>
        <p:nvSpPr>
          <p:cNvPr id="3" name="Content Placeholder 2">
            <a:extLst>
              <a:ext uri="{FF2B5EF4-FFF2-40B4-BE49-F238E27FC236}">
                <a16:creationId xmlns:a16="http://schemas.microsoft.com/office/drawing/2014/main" id="{790DD8CA-1066-5731-421D-9335852B5A6C}"/>
              </a:ext>
            </a:extLst>
          </p:cNvPr>
          <p:cNvSpPr>
            <a:spLocks noGrp="1"/>
          </p:cNvSpPr>
          <p:nvPr>
            <p:ph sz="half" idx="1"/>
          </p:nvPr>
        </p:nvSpPr>
        <p:spPr>
          <a:xfrm>
            <a:off x="838199" y="1116419"/>
            <a:ext cx="7370135" cy="5060544"/>
          </a:xfrm>
        </p:spPr>
        <p:txBody>
          <a:bodyPr/>
          <a:lstStyle/>
          <a:p>
            <a:r>
              <a:rPr lang="en-US" dirty="0"/>
              <a:t>Vendors must first register by providing the following details: </a:t>
            </a:r>
          </a:p>
          <a:p>
            <a:pPr lvl="0"/>
            <a:r>
              <a:rPr lang="en-US" dirty="0"/>
              <a:t>Shop Name </a:t>
            </a:r>
          </a:p>
          <a:p>
            <a:pPr lvl="0"/>
            <a:r>
              <a:rPr lang="en-US" dirty="0"/>
              <a:t>Owner Name </a:t>
            </a:r>
          </a:p>
          <a:p>
            <a:pPr lvl="0"/>
            <a:r>
              <a:rPr lang="en-US" dirty="0"/>
              <a:t>Email Address </a:t>
            </a:r>
          </a:p>
          <a:p>
            <a:pPr lvl="0"/>
            <a:r>
              <a:rPr lang="en-US" dirty="0"/>
              <a:t>Password </a:t>
            </a:r>
          </a:p>
          <a:p>
            <a:pPr lvl="0"/>
            <a:r>
              <a:rPr lang="en-US" dirty="0"/>
              <a:t>Phone Number </a:t>
            </a:r>
          </a:p>
          <a:p>
            <a:r>
              <a:rPr lang="en-US" dirty="0"/>
              <a:t>After registration, the vendor account will remain in a pending state until it is verified and approved by the Admin.</a:t>
            </a:r>
          </a:p>
          <a:p>
            <a:endParaRPr lang="en-US" dirty="0"/>
          </a:p>
        </p:txBody>
      </p:sp>
      <p:pic>
        <p:nvPicPr>
          <p:cNvPr id="6" name="Content Placeholder 5">
            <a:extLst>
              <a:ext uri="{FF2B5EF4-FFF2-40B4-BE49-F238E27FC236}">
                <a16:creationId xmlns:a16="http://schemas.microsoft.com/office/drawing/2014/main" id="{63EFFA94-D331-80F9-52DD-A078D2E4F10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836913" y="1041585"/>
            <a:ext cx="2271450" cy="5060950"/>
          </a:xfrm>
          <a:prstGeom prst="rect">
            <a:avLst/>
          </a:prstGeom>
        </p:spPr>
      </p:pic>
    </p:spTree>
    <p:extLst>
      <p:ext uri="{BB962C8B-B14F-4D97-AF65-F5344CB8AC3E}">
        <p14:creationId xmlns:p14="http://schemas.microsoft.com/office/powerpoint/2010/main" val="3233816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44C9B-F7CE-A957-CF8B-9A7552953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632A75-358A-7997-0EC8-1B567C1ACB3F}"/>
              </a:ext>
            </a:extLst>
          </p:cNvPr>
          <p:cNvSpPr>
            <a:spLocks noGrp="1"/>
          </p:cNvSpPr>
          <p:nvPr>
            <p:ph type="title"/>
          </p:nvPr>
        </p:nvSpPr>
        <p:spPr>
          <a:xfrm>
            <a:off x="838200" y="365126"/>
            <a:ext cx="10515600" cy="528010"/>
          </a:xfrm>
        </p:spPr>
        <p:txBody>
          <a:bodyPr>
            <a:normAutofit fontScale="90000"/>
          </a:bodyPr>
          <a:lstStyle/>
          <a:p>
            <a:r>
              <a:rPr lang="en-US" b="1" dirty="0"/>
              <a:t>2. Vendor Login</a:t>
            </a:r>
            <a:endParaRPr lang="en-US" dirty="0"/>
          </a:p>
        </p:txBody>
      </p:sp>
      <p:sp>
        <p:nvSpPr>
          <p:cNvPr id="3" name="Content Placeholder 2">
            <a:extLst>
              <a:ext uri="{FF2B5EF4-FFF2-40B4-BE49-F238E27FC236}">
                <a16:creationId xmlns:a16="http://schemas.microsoft.com/office/drawing/2014/main" id="{4F56713F-34EA-1423-B8B7-D693ABA8C2F1}"/>
              </a:ext>
            </a:extLst>
          </p:cNvPr>
          <p:cNvSpPr>
            <a:spLocks noGrp="1"/>
          </p:cNvSpPr>
          <p:nvPr>
            <p:ph sz="half" idx="1"/>
          </p:nvPr>
        </p:nvSpPr>
        <p:spPr>
          <a:xfrm>
            <a:off x="838199" y="1116419"/>
            <a:ext cx="7370135" cy="5060544"/>
          </a:xfrm>
        </p:spPr>
        <p:txBody>
          <a:bodyPr/>
          <a:lstStyle/>
          <a:p>
            <a:r>
              <a:rPr lang="en-US" dirty="0"/>
              <a:t>Once the Admin approves the account, the vendor can log in using:</a:t>
            </a:r>
          </a:p>
          <a:p>
            <a:pPr lvl="0"/>
            <a:r>
              <a:rPr lang="en-US" dirty="0"/>
              <a:t>Email Address </a:t>
            </a:r>
          </a:p>
          <a:p>
            <a:pPr lvl="0"/>
            <a:r>
              <a:rPr lang="en-US" dirty="0"/>
              <a:t>Password </a:t>
            </a:r>
          </a:p>
          <a:p>
            <a:r>
              <a:rPr lang="en-US" dirty="0"/>
              <a:t>After successful login, the vendor will be redirected to the Dashboard.</a:t>
            </a:r>
          </a:p>
          <a:p>
            <a:endParaRPr lang="en-US" dirty="0"/>
          </a:p>
        </p:txBody>
      </p:sp>
      <p:pic>
        <p:nvPicPr>
          <p:cNvPr id="6" name="Content Placeholder 5">
            <a:extLst>
              <a:ext uri="{FF2B5EF4-FFF2-40B4-BE49-F238E27FC236}">
                <a16:creationId xmlns:a16="http://schemas.microsoft.com/office/drawing/2014/main" id="{66CA7551-4FF4-F204-FD24-8A33BCE1F84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719955" y="977790"/>
            <a:ext cx="2271450" cy="5060950"/>
          </a:xfrm>
          <a:prstGeom prst="rect">
            <a:avLst/>
          </a:prstGeom>
        </p:spPr>
      </p:pic>
    </p:spTree>
    <p:extLst>
      <p:ext uri="{BB962C8B-B14F-4D97-AF65-F5344CB8AC3E}">
        <p14:creationId xmlns:p14="http://schemas.microsoft.com/office/powerpoint/2010/main" val="2607274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3933C-7DD4-3442-63A4-05D759FCD8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727CA-47C0-6C68-6BDE-3ADDD133678C}"/>
              </a:ext>
            </a:extLst>
          </p:cNvPr>
          <p:cNvSpPr>
            <a:spLocks noGrp="1"/>
          </p:cNvSpPr>
          <p:nvPr>
            <p:ph type="title"/>
          </p:nvPr>
        </p:nvSpPr>
        <p:spPr>
          <a:xfrm>
            <a:off x="838200" y="365126"/>
            <a:ext cx="10515600" cy="528010"/>
          </a:xfrm>
        </p:spPr>
        <p:txBody>
          <a:bodyPr>
            <a:normAutofit fontScale="90000"/>
          </a:bodyPr>
          <a:lstStyle/>
          <a:p>
            <a:r>
              <a:rPr lang="en-US" b="1" dirty="0"/>
              <a:t>3. Dashboard</a:t>
            </a:r>
            <a:endParaRPr lang="en-US" dirty="0"/>
          </a:p>
        </p:txBody>
      </p:sp>
      <p:sp>
        <p:nvSpPr>
          <p:cNvPr id="3" name="Content Placeholder 2">
            <a:extLst>
              <a:ext uri="{FF2B5EF4-FFF2-40B4-BE49-F238E27FC236}">
                <a16:creationId xmlns:a16="http://schemas.microsoft.com/office/drawing/2014/main" id="{6CDAD512-D9AE-3E46-1289-27D6F1E65B94}"/>
              </a:ext>
            </a:extLst>
          </p:cNvPr>
          <p:cNvSpPr>
            <a:spLocks noGrp="1"/>
          </p:cNvSpPr>
          <p:nvPr>
            <p:ph sz="half" idx="1"/>
          </p:nvPr>
        </p:nvSpPr>
        <p:spPr>
          <a:xfrm>
            <a:off x="838200" y="1116419"/>
            <a:ext cx="6237844" cy="5060544"/>
          </a:xfrm>
        </p:spPr>
        <p:txBody>
          <a:bodyPr>
            <a:normAutofit fontScale="92500" lnSpcReduction="10000"/>
          </a:bodyPr>
          <a:lstStyle/>
          <a:p>
            <a:r>
              <a:rPr lang="en-US" dirty="0"/>
              <a:t>The Dashboard provides a complete overview of business performance.</a:t>
            </a:r>
          </a:p>
          <a:p>
            <a:r>
              <a:rPr lang="en-US" b="1" dirty="0"/>
              <a:t>Dashboard Features</a:t>
            </a:r>
            <a:endParaRPr lang="en-US" dirty="0"/>
          </a:p>
          <a:p>
            <a:pPr lvl="0"/>
            <a:r>
              <a:rPr lang="en-US" dirty="0"/>
              <a:t>Total Service Count </a:t>
            </a:r>
          </a:p>
          <a:p>
            <a:pPr lvl="0"/>
            <a:r>
              <a:rPr lang="en-US" dirty="0"/>
              <a:t>Pending Bookings Count </a:t>
            </a:r>
          </a:p>
          <a:p>
            <a:pPr lvl="0"/>
            <a:r>
              <a:rPr lang="en-US" dirty="0"/>
              <a:t>Completed Bookings Count </a:t>
            </a:r>
          </a:p>
          <a:p>
            <a:pPr lvl="0"/>
            <a:r>
              <a:rPr lang="en-US" dirty="0"/>
              <a:t>Cancelled Bookings Count </a:t>
            </a:r>
          </a:p>
          <a:p>
            <a:pPr lvl="0"/>
            <a:r>
              <a:rPr lang="en-US" dirty="0"/>
              <a:t>Total Revenue Overview </a:t>
            </a:r>
          </a:p>
          <a:p>
            <a:pPr lvl="0"/>
            <a:r>
              <a:rPr lang="en-US" dirty="0"/>
              <a:t>Yearly Income Chart </a:t>
            </a:r>
          </a:p>
          <a:p>
            <a:pPr lvl="0"/>
            <a:r>
              <a:rPr lang="en-US" dirty="0"/>
              <a:t>Recent Booking List </a:t>
            </a:r>
          </a:p>
          <a:p>
            <a:r>
              <a:rPr lang="en-US" dirty="0"/>
              <a:t>This helps vendors monitor daily and overall business activities.</a:t>
            </a:r>
          </a:p>
          <a:p>
            <a:endParaRPr lang="en-US" dirty="0"/>
          </a:p>
        </p:txBody>
      </p:sp>
      <p:pic>
        <p:nvPicPr>
          <p:cNvPr id="6" name="Content Placeholder 5">
            <a:extLst>
              <a:ext uri="{FF2B5EF4-FFF2-40B4-BE49-F238E27FC236}">
                <a16:creationId xmlns:a16="http://schemas.microsoft.com/office/drawing/2014/main" id="{82ED8FEE-5B08-1F27-B7C2-5B1858B5BD6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9581192" y="1116419"/>
            <a:ext cx="2271450" cy="5060950"/>
          </a:xfrm>
          <a:prstGeom prst="rect">
            <a:avLst/>
          </a:prstGeom>
        </p:spPr>
      </p:pic>
      <p:pic>
        <p:nvPicPr>
          <p:cNvPr id="8" name="Picture 7">
            <a:extLst>
              <a:ext uri="{FF2B5EF4-FFF2-40B4-BE49-F238E27FC236}">
                <a16:creationId xmlns:a16="http://schemas.microsoft.com/office/drawing/2014/main" id="{B651D97A-48B8-E602-AE61-0E1C7DDB08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6043" y="1146216"/>
            <a:ext cx="2264581" cy="5045646"/>
          </a:xfrm>
          <a:prstGeom prst="rect">
            <a:avLst/>
          </a:prstGeom>
        </p:spPr>
      </p:pic>
    </p:spTree>
    <p:extLst>
      <p:ext uri="{BB962C8B-B14F-4D97-AF65-F5344CB8AC3E}">
        <p14:creationId xmlns:p14="http://schemas.microsoft.com/office/powerpoint/2010/main" val="924891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743DE-5CE0-D0D5-D7AB-38C7D2B1B7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71EFDC-D252-F773-8055-0A75E9C14C93}"/>
              </a:ext>
            </a:extLst>
          </p:cNvPr>
          <p:cNvSpPr>
            <a:spLocks noGrp="1"/>
          </p:cNvSpPr>
          <p:nvPr>
            <p:ph type="title"/>
          </p:nvPr>
        </p:nvSpPr>
        <p:spPr>
          <a:xfrm>
            <a:off x="838200" y="365126"/>
            <a:ext cx="10515600" cy="528010"/>
          </a:xfrm>
        </p:spPr>
        <p:txBody>
          <a:bodyPr>
            <a:normAutofit fontScale="90000"/>
          </a:bodyPr>
          <a:lstStyle/>
          <a:p>
            <a:r>
              <a:rPr lang="en-US" b="1" dirty="0"/>
              <a:t>4. Booking Management</a:t>
            </a:r>
            <a:endParaRPr lang="en-US" dirty="0"/>
          </a:p>
        </p:txBody>
      </p:sp>
      <p:sp>
        <p:nvSpPr>
          <p:cNvPr id="3" name="Content Placeholder 2">
            <a:extLst>
              <a:ext uri="{FF2B5EF4-FFF2-40B4-BE49-F238E27FC236}">
                <a16:creationId xmlns:a16="http://schemas.microsoft.com/office/drawing/2014/main" id="{75B84E01-93B4-BF9F-29AE-A0EEA8264B22}"/>
              </a:ext>
            </a:extLst>
          </p:cNvPr>
          <p:cNvSpPr>
            <a:spLocks noGrp="1"/>
          </p:cNvSpPr>
          <p:nvPr>
            <p:ph sz="half" idx="1"/>
          </p:nvPr>
        </p:nvSpPr>
        <p:spPr>
          <a:xfrm>
            <a:off x="838199" y="1116418"/>
            <a:ext cx="7901763" cy="5376455"/>
          </a:xfrm>
        </p:spPr>
        <p:txBody>
          <a:bodyPr>
            <a:normAutofit/>
          </a:bodyPr>
          <a:lstStyle/>
          <a:p>
            <a:r>
              <a:rPr lang="en-US" dirty="0"/>
              <a:t>All user bookings will be displayed in the Booking Page.</a:t>
            </a:r>
          </a:p>
          <a:p>
            <a:r>
              <a:rPr lang="en-US" b="1" dirty="0"/>
              <a:t>Features</a:t>
            </a:r>
            <a:endParaRPr lang="en-US" dirty="0"/>
          </a:p>
          <a:p>
            <a:pPr lvl="0"/>
            <a:r>
              <a:rPr lang="en-US" dirty="0"/>
              <a:t>View Booking List </a:t>
            </a:r>
          </a:p>
          <a:p>
            <a:pPr lvl="0"/>
            <a:r>
              <a:rPr lang="en-US" dirty="0"/>
              <a:t>Accept Booking </a:t>
            </a:r>
          </a:p>
          <a:p>
            <a:pPr lvl="0"/>
            <a:r>
              <a:rPr lang="en-US" dirty="0"/>
              <a:t>Reject Booking </a:t>
            </a:r>
          </a:p>
          <a:p>
            <a:pPr lvl="0"/>
            <a:r>
              <a:rPr lang="en-US" dirty="0"/>
              <a:t>View Customer Details </a:t>
            </a:r>
          </a:p>
          <a:p>
            <a:pPr lvl="0"/>
            <a:r>
              <a:rPr lang="en-US" dirty="0"/>
              <a:t>View Vehicle Details </a:t>
            </a:r>
          </a:p>
          <a:p>
            <a:pPr lvl="0"/>
            <a:r>
              <a:rPr lang="en-US" dirty="0"/>
              <a:t>View Service Details </a:t>
            </a:r>
          </a:p>
          <a:p>
            <a:r>
              <a:rPr lang="en-US" dirty="0"/>
              <a:t>Once a booking is accepted, the booking confirmation is automatically sent to the user.</a:t>
            </a:r>
          </a:p>
          <a:p>
            <a:endParaRPr lang="en-US" dirty="0"/>
          </a:p>
        </p:txBody>
      </p:sp>
      <p:pic>
        <p:nvPicPr>
          <p:cNvPr id="13" name="Content Placeholder 12">
            <a:extLst>
              <a:ext uri="{FF2B5EF4-FFF2-40B4-BE49-F238E27FC236}">
                <a16:creationId xmlns:a16="http://schemas.microsoft.com/office/drawing/2014/main" id="{26764152-A7EA-E84B-000C-610370C97DB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9508993" y="1253331"/>
            <a:ext cx="1952962" cy="4351338"/>
          </a:xfrm>
          <a:prstGeom prst="rect">
            <a:avLst/>
          </a:prstGeom>
        </p:spPr>
      </p:pic>
    </p:spTree>
    <p:extLst>
      <p:ext uri="{BB962C8B-B14F-4D97-AF65-F5344CB8AC3E}">
        <p14:creationId xmlns:p14="http://schemas.microsoft.com/office/powerpoint/2010/main" val="275811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CDA53-D2AA-6931-4798-14E717ED9C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09FB54-FE13-7979-2249-A5ECE9EE72F4}"/>
              </a:ext>
            </a:extLst>
          </p:cNvPr>
          <p:cNvSpPr>
            <a:spLocks noGrp="1"/>
          </p:cNvSpPr>
          <p:nvPr>
            <p:ph type="title"/>
          </p:nvPr>
        </p:nvSpPr>
        <p:spPr>
          <a:xfrm>
            <a:off x="838200" y="365126"/>
            <a:ext cx="10515600" cy="528010"/>
          </a:xfrm>
        </p:spPr>
        <p:txBody>
          <a:bodyPr>
            <a:normAutofit fontScale="90000"/>
          </a:bodyPr>
          <a:lstStyle/>
          <a:p>
            <a:r>
              <a:rPr lang="en-US" b="1" dirty="0"/>
              <a:t>5. Service Status Update</a:t>
            </a:r>
            <a:endParaRPr lang="en-US" dirty="0"/>
          </a:p>
        </p:txBody>
      </p:sp>
      <p:sp>
        <p:nvSpPr>
          <p:cNvPr id="3" name="Content Placeholder 2">
            <a:extLst>
              <a:ext uri="{FF2B5EF4-FFF2-40B4-BE49-F238E27FC236}">
                <a16:creationId xmlns:a16="http://schemas.microsoft.com/office/drawing/2014/main" id="{E779270B-B91E-9672-B3AF-E0CA57F8E894}"/>
              </a:ext>
            </a:extLst>
          </p:cNvPr>
          <p:cNvSpPr>
            <a:spLocks noGrp="1"/>
          </p:cNvSpPr>
          <p:nvPr>
            <p:ph sz="half" idx="1"/>
          </p:nvPr>
        </p:nvSpPr>
        <p:spPr>
          <a:xfrm>
            <a:off x="838199" y="1116418"/>
            <a:ext cx="6328145" cy="5376455"/>
          </a:xfrm>
        </p:spPr>
        <p:txBody>
          <a:bodyPr>
            <a:normAutofit fontScale="85000" lnSpcReduction="20000"/>
          </a:bodyPr>
          <a:lstStyle/>
          <a:p>
            <a:r>
              <a:rPr lang="en-US" dirty="0"/>
              <a:t>Vendors can update booking progress at every stage.</a:t>
            </a:r>
          </a:p>
          <a:p>
            <a:r>
              <a:rPr lang="en-US" b="1" dirty="0"/>
              <a:t>Available Statuses</a:t>
            </a:r>
            <a:endParaRPr lang="en-US" dirty="0"/>
          </a:p>
          <a:p>
            <a:pPr lvl="0"/>
            <a:r>
              <a:rPr lang="en-US" dirty="0"/>
              <a:t>Booking Accepted </a:t>
            </a:r>
          </a:p>
          <a:p>
            <a:pPr lvl="0"/>
            <a:r>
              <a:rPr lang="en-US" dirty="0"/>
              <a:t>On the Way </a:t>
            </a:r>
          </a:p>
          <a:p>
            <a:pPr lvl="0"/>
            <a:r>
              <a:rPr lang="en-US" dirty="0"/>
              <a:t>Vehicle Picked Up </a:t>
            </a:r>
          </a:p>
          <a:p>
            <a:pPr lvl="0"/>
            <a:r>
              <a:rPr lang="en-US" dirty="0"/>
              <a:t>In Service </a:t>
            </a:r>
          </a:p>
          <a:p>
            <a:pPr lvl="0"/>
            <a:r>
              <a:rPr lang="en-US" dirty="0"/>
              <a:t>Spare Parts Processing </a:t>
            </a:r>
          </a:p>
          <a:p>
            <a:pPr lvl="0"/>
            <a:r>
              <a:rPr lang="en-US" dirty="0"/>
              <a:t>Ready for Delivery </a:t>
            </a:r>
          </a:p>
          <a:p>
            <a:pPr lvl="0"/>
            <a:r>
              <a:rPr lang="en-US" dirty="0"/>
              <a:t>Out for Delivery </a:t>
            </a:r>
          </a:p>
          <a:p>
            <a:pPr lvl="0"/>
            <a:r>
              <a:rPr lang="en-US" dirty="0"/>
              <a:t>Delivered </a:t>
            </a:r>
          </a:p>
          <a:p>
            <a:pPr lvl="0"/>
            <a:r>
              <a:rPr lang="en-US" dirty="0"/>
              <a:t>Completed </a:t>
            </a:r>
          </a:p>
          <a:p>
            <a:r>
              <a:rPr lang="en-US" dirty="0"/>
              <a:t>Users receive real-time notifications whenever the status changes.</a:t>
            </a:r>
          </a:p>
          <a:p>
            <a:endParaRPr lang="en-US" dirty="0"/>
          </a:p>
        </p:txBody>
      </p:sp>
      <p:pic>
        <p:nvPicPr>
          <p:cNvPr id="6" name="Content Placeholder 5">
            <a:extLst>
              <a:ext uri="{FF2B5EF4-FFF2-40B4-BE49-F238E27FC236}">
                <a16:creationId xmlns:a16="http://schemas.microsoft.com/office/drawing/2014/main" id="{E027DF76-5883-297C-2A40-A5CAE13E866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9655684" y="1030953"/>
            <a:ext cx="2271450" cy="5060950"/>
          </a:xfrm>
          <a:prstGeom prst="rect">
            <a:avLst/>
          </a:prstGeom>
        </p:spPr>
      </p:pic>
      <p:pic>
        <p:nvPicPr>
          <p:cNvPr id="8" name="Picture 7">
            <a:extLst>
              <a:ext uri="{FF2B5EF4-FFF2-40B4-BE49-F238E27FC236}">
                <a16:creationId xmlns:a16="http://schemas.microsoft.com/office/drawing/2014/main" id="{6E52BC5F-5888-82EA-6B53-961F4B06C1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0659" y="1228063"/>
            <a:ext cx="2171051" cy="4837256"/>
          </a:xfrm>
          <a:prstGeom prst="rect">
            <a:avLst/>
          </a:prstGeom>
        </p:spPr>
      </p:pic>
    </p:spTree>
    <p:extLst>
      <p:ext uri="{BB962C8B-B14F-4D97-AF65-F5344CB8AC3E}">
        <p14:creationId xmlns:p14="http://schemas.microsoft.com/office/powerpoint/2010/main" val="3388290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0C10E-A2D9-09B5-9F8F-3DC389B93D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302E50-1BB2-A428-8C2F-317D1A0713E5}"/>
              </a:ext>
            </a:extLst>
          </p:cNvPr>
          <p:cNvSpPr>
            <a:spLocks noGrp="1"/>
          </p:cNvSpPr>
          <p:nvPr>
            <p:ph type="title"/>
          </p:nvPr>
        </p:nvSpPr>
        <p:spPr>
          <a:xfrm>
            <a:off x="838200" y="365126"/>
            <a:ext cx="10515600" cy="528010"/>
          </a:xfrm>
        </p:spPr>
        <p:txBody>
          <a:bodyPr>
            <a:normAutofit fontScale="90000"/>
          </a:bodyPr>
          <a:lstStyle/>
          <a:p>
            <a:r>
              <a:rPr lang="en-US" b="1" dirty="0"/>
              <a:t>6. Live Tracking Management</a:t>
            </a:r>
            <a:endParaRPr lang="en-US" dirty="0"/>
          </a:p>
        </p:txBody>
      </p:sp>
      <p:sp>
        <p:nvSpPr>
          <p:cNvPr id="3" name="Content Placeholder 2">
            <a:extLst>
              <a:ext uri="{FF2B5EF4-FFF2-40B4-BE49-F238E27FC236}">
                <a16:creationId xmlns:a16="http://schemas.microsoft.com/office/drawing/2014/main" id="{C71D0BA8-7758-18A2-B61E-6679B0D27049}"/>
              </a:ext>
            </a:extLst>
          </p:cNvPr>
          <p:cNvSpPr>
            <a:spLocks noGrp="1"/>
          </p:cNvSpPr>
          <p:nvPr>
            <p:ph sz="half" idx="1"/>
          </p:nvPr>
        </p:nvSpPr>
        <p:spPr>
          <a:xfrm>
            <a:off x="838199" y="1116419"/>
            <a:ext cx="7370135" cy="5060544"/>
          </a:xfrm>
        </p:spPr>
        <p:txBody>
          <a:bodyPr/>
          <a:lstStyle/>
          <a:p>
            <a:r>
              <a:rPr lang="en-US" dirty="0"/>
              <a:t>After accepting a booking, live location tracking becomes available.</a:t>
            </a:r>
          </a:p>
          <a:p>
            <a:r>
              <a:rPr lang="en-US" b="1" dirty="0"/>
              <a:t>Features</a:t>
            </a:r>
            <a:endParaRPr lang="en-US" dirty="0"/>
          </a:p>
          <a:p>
            <a:pPr lvl="0"/>
            <a:r>
              <a:rPr lang="en-US" dirty="0"/>
              <a:t>Latitude &amp; Longitude Tracking </a:t>
            </a:r>
          </a:p>
          <a:p>
            <a:pPr lvl="0"/>
            <a:r>
              <a:rPr lang="en-US" dirty="0"/>
              <a:t>Live Map Tracking </a:t>
            </a:r>
          </a:p>
          <a:p>
            <a:pPr lvl="0"/>
            <a:r>
              <a:rPr lang="en-US" dirty="0"/>
              <a:t>Customer Location View </a:t>
            </a:r>
          </a:p>
          <a:p>
            <a:pPr lvl="0"/>
            <a:r>
              <a:rPr lang="en-US" dirty="0"/>
              <a:t>Real-Time Navigation Support </a:t>
            </a:r>
          </a:p>
          <a:p>
            <a:r>
              <a:rPr lang="en-US" dirty="0"/>
              <a:t>Vendors can track customer locations directly through the integrated map system.</a:t>
            </a:r>
          </a:p>
          <a:p>
            <a:endParaRPr lang="en-US" dirty="0"/>
          </a:p>
        </p:txBody>
      </p:sp>
      <p:pic>
        <p:nvPicPr>
          <p:cNvPr id="6" name="Content Placeholder 5">
            <a:extLst>
              <a:ext uri="{FF2B5EF4-FFF2-40B4-BE49-F238E27FC236}">
                <a16:creationId xmlns:a16="http://schemas.microsoft.com/office/drawing/2014/main" id="{446F9C71-DE73-81C0-6087-EB50B048329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826280" y="893136"/>
            <a:ext cx="2271450" cy="5060950"/>
          </a:xfrm>
          <a:prstGeom prst="rect">
            <a:avLst/>
          </a:prstGeom>
        </p:spPr>
      </p:pic>
    </p:spTree>
    <p:extLst>
      <p:ext uri="{BB962C8B-B14F-4D97-AF65-F5344CB8AC3E}">
        <p14:creationId xmlns:p14="http://schemas.microsoft.com/office/powerpoint/2010/main" val="2700912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803E2-CFCC-0CAE-8394-629F8CA861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483F65-48CB-FE77-FD11-43E711C1F527}"/>
              </a:ext>
            </a:extLst>
          </p:cNvPr>
          <p:cNvSpPr>
            <a:spLocks noGrp="1"/>
          </p:cNvSpPr>
          <p:nvPr>
            <p:ph type="title"/>
          </p:nvPr>
        </p:nvSpPr>
        <p:spPr>
          <a:xfrm>
            <a:off x="838200" y="375759"/>
            <a:ext cx="10515600" cy="528010"/>
          </a:xfrm>
        </p:spPr>
        <p:txBody>
          <a:bodyPr>
            <a:normAutofit fontScale="90000"/>
          </a:bodyPr>
          <a:lstStyle/>
          <a:p>
            <a:r>
              <a:rPr lang="en-US" b="1" dirty="0"/>
              <a:t>7. Billing &amp; Challan Management</a:t>
            </a:r>
            <a:endParaRPr lang="en-US" dirty="0"/>
          </a:p>
        </p:txBody>
      </p:sp>
      <p:sp>
        <p:nvSpPr>
          <p:cNvPr id="3" name="Content Placeholder 2">
            <a:extLst>
              <a:ext uri="{FF2B5EF4-FFF2-40B4-BE49-F238E27FC236}">
                <a16:creationId xmlns:a16="http://schemas.microsoft.com/office/drawing/2014/main" id="{8E53811C-9872-97F1-56B9-D8B97F91FF5A}"/>
              </a:ext>
            </a:extLst>
          </p:cNvPr>
          <p:cNvSpPr>
            <a:spLocks noGrp="1"/>
          </p:cNvSpPr>
          <p:nvPr>
            <p:ph sz="half" idx="1"/>
          </p:nvPr>
        </p:nvSpPr>
        <p:spPr>
          <a:xfrm>
            <a:off x="838200" y="1116419"/>
            <a:ext cx="6277450" cy="5060544"/>
          </a:xfrm>
        </p:spPr>
        <p:txBody>
          <a:bodyPr>
            <a:normAutofit fontScale="92500" lnSpcReduction="10000"/>
          </a:bodyPr>
          <a:lstStyle/>
          <a:p>
            <a:r>
              <a:rPr lang="en-US" dirty="0"/>
              <a:t>The Challan/Billing Page allows vendors to generate service invoices.</a:t>
            </a:r>
          </a:p>
          <a:p>
            <a:r>
              <a:rPr lang="en-US" b="1" dirty="0"/>
              <a:t>Features</a:t>
            </a:r>
            <a:endParaRPr lang="en-US" dirty="0"/>
          </a:p>
          <a:p>
            <a:pPr lvl="0"/>
            <a:r>
              <a:rPr lang="en-US" dirty="0"/>
              <a:t>Service Amount Entry </a:t>
            </a:r>
          </a:p>
          <a:p>
            <a:pPr lvl="0"/>
            <a:r>
              <a:rPr lang="en-US" dirty="0"/>
              <a:t>Spare Parts Amount Entry </a:t>
            </a:r>
          </a:p>
          <a:p>
            <a:pPr lvl="0"/>
            <a:r>
              <a:rPr lang="en-US" dirty="0"/>
              <a:t>Additional Charges Entry </a:t>
            </a:r>
          </a:p>
          <a:p>
            <a:pPr lvl="0"/>
            <a:r>
              <a:rPr lang="en-US" dirty="0"/>
              <a:t>Total Bill Calculation </a:t>
            </a:r>
          </a:p>
          <a:p>
            <a:pPr lvl="0"/>
            <a:r>
              <a:rPr lang="en-US" dirty="0"/>
              <a:t>PDF Invoice Generation </a:t>
            </a:r>
          </a:p>
          <a:p>
            <a:pPr lvl="0"/>
            <a:r>
              <a:rPr lang="en-US" dirty="0"/>
              <a:t>Direct Bill Sharing to User </a:t>
            </a:r>
          </a:p>
          <a:p>
            <a:r>
              <a:rPr lang="en-US" dirty="0"/>
              <a:t>The generated invoice can be downloaded and sent directly to the customer.</a:t>
            </a:r>
          </a:p>
          <a:p>
            <a:endParaRPr lang="en-US" dirty="0"/>
          </a:p>
        </p:txBody>
      </p:sp>
      <p:pic>
        <p:nvPicPr>
          <p:cNvPr id="6" name="Content Placeholder 5">
            <a:extLst>
              <a:ext uri="{FF2B5EF4-FFF2-40B4-BE49-F238E27FC236}">
                <a16:creationId xmlns:a16="http://schemas.microsoft.com/office/drawing/2014/main" id="{69B331B4-DA4D-520C-DC4C-08D428DA00A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9538662" y="1116419"/>
            <a:ext cx="2271450" cy="5060950"/>
          </a:xfrm>
          <a:prstGeom prst="rect">
            <a:avLst/>
          </a:prstGeom>
        </p:spPr>
      </p:pic>
      <p:pic>
        <p:nvPicPr>
          <p:cNvPr id="8" name="Picture 7">
            <a:extLst>
              <a:ext uri="{FF2B5EF4-FFF2-40B4-BE49-F238E27FC236}">
                <a16:creationId xmlns:a16="http://schemas.microsoft.com/office/drawing/2014/main" id="{994FE214-97A4-6FE4-7A57-ECD765C58F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5649" y="1307805"/>
            <a:ext cx="2185370" cy="4869158"/>
          </a:xfrm>
          <a:prstGeom prst="rect">
            <a:avLst/>
          </a:prstGeom>
        </p:spPr>
      </p:pic>
    </p:spTree>
    <p:extLst>
      <p:ext uri="{BB962C8B-B14F-4D97-AF65-F5344CB8AC3E}">
        <p14:creationId xmlns:p14="http://schemas.microsoft.com/office/powerpoint/2010/main" val="113848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04061-D78B-E472-8EB6-1B50409374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D8ED9E-56D2-A643-C149-4E886515F840}"/>
              </a:ext>
            </a:extLst>
          </p:cNvPr>
          <p:cNvSpPr>
            <a:spLocks noGrp="1"/>
          </p:cNvSpPr>
          <p:nvPr>
            <p:ph type="title"/>
          </p:nvPr>
        </p:nvSpPr>
        <p:spPr>
          <a:xfrm>
            <a:off x="838200" y="365126"/>
            <a:ext cx="10515600" cy="528010"/>
          </a:xfrm>
        </p:spPr>
        <p:txBody>
          <a:bodyPr>
            <a:normAutofit fontScale="90000"/>
          </a:bodyPr>
          <a:lstStyle/>
          <a:p>
            <a:r>
              <a:rPr lang="en-US" b="1" dirty="0"/>
              <a:t>8. Spare Parts Module</a:t>
            </a:r>
            <a:endParaRPr lang="en-US" dirty="0"/>
          </a:p>
        </p:txBody>
      </p:sp>
      <p:sp>
        <p:nvSpPr>
          <p:cNvPr id="3" name="Content Placeholder 2">
            <a:extLst>
              <a:ext uri="{FF2B5EF4-FFF2-40B4-BE49-F238E27FC236}">
                <a16:creationId xmlns:a16="http://schemas.microsoft.com/office/drawing/2014/main" id="{49356CD2-4DEE-7E7E-2AE1-A5CCB9DF3D5F}"/>
              </a:ext>
            </a:extLst>
          </p:cNvPr>
          <p:cNvSpPr>
            <a:spLocks noGrp="1"/>
          </p:cNvSpPr>
          <p:nvPr>
            <p:ph sz="half" idx="1"/>
          </p:nvPr>
        </p:nvSpPr>
        <p:spPr>
          <a:xfrm>
            <a:off x="838199" y="1116418"/>
            <a:ext cx="7370135" cy="5376455"/>
          </a:xfrm>
        </p:spPr>
        <p:txBody>
          <a:bodyPr>
            <a:normAutofit fontScale="77500" lnSpcReduction="20000"/>
          </a:bodyPr>
          <a:lstStyle/>
          <a:p>
            <a:r>
              <a:rPr lang="en-US" dirty="0"/>
              <a:t>The Spare Parts section allows vendors to purchase and manage spare parts.</a:t>
            </a:r>
          </a:p>
          <a:p>
            <a:r>
              <a:rPr lang="en-US" b="1" dirty="0"/>
              <a:t>Available Categories</a:t>
            </a:r>
            <a:endParaRPr lang="en-US" dirty="0"/>
          </a:p>
          <a:p>
            <a:pPr lvl="0"/>
            <a:r>
              <a:rPr lang="en-US" dirty="0"/>
              <a:t>Bike Spare Parts </a:t>
            </a:r>
          </a:p>
          <a:p>
            <a:pPr lvl="0"/>
            <a:r>
              <a:rPr lang="en-US" dirty="0"/>
              <a:t>Car Spare Parts </a:t>
            </a:r>
          </a:p>
          <a:p>
            <a:pPr lvl="0"/>
            <a:r>
              <a:rPr lang="en-US" dirty="0"/>
              <a:t>Heavy Vehicle Spare Parts </a:t>
            </a:r>
          </a:p>
          <a:p>
            <a:r>
              <a:rPr lang="en-US" b="1" dirty="0"/>
              <a:t>Features</a:t>
            </a:r>
            <a:endParaRPr lang="en-US" dirty="0"/>
          </a:p>
          <a:p>
            <a:pPr lvl="0"/>
            <a:r>
              <a:rPr lang="en-US" dirty="0"/>
              <a:t>Spare Parts Listing </a:t>
            </a:r>
          </a:p>
          <a:p>
            <a:pPr lvl="0"/>
            <a:r>
              <a:rPr lang="en-US" dirty="0"/>
              <a:t>Product Details View </a:t>
            </a:r>
          </a:p>
          <a:p>
            <a:pPr lvl="0"/>
            <a:r>
              <a:rPr lang="en-US" dirty="0"/>
              <a:t>Purchase Management </a:t>
            </a:r>
          </a:p>
          <a:p>
            <a:pPr lvl="0"/>
            <a:r>
              <a:rPr lang="en-US" dirty="0"/>
              <a:t>Order Tracking </a:t>
            </a:r>
          </a:p>
          <a:p>
            <a:pPr lvl="0"/>
            <a:r>
              <a:rPr lang="en-US" dirty="0"/>
              <a:t>Inventory Monitoring </a:t>
            </a:r>
          </a:p>
          <a:p>
            <a:r>
              <a:rPr lang="en-US" b="1" dirty="0"/>
              <a:t>Vendor Discount</a:t>
            </a:r>
            <a:endParaRPr lang="en-US" dirty="0"/>
          </a:p>
          <a:p>
            <a:r>
              <a:rPr lang="en-US" dirty="0"/>
              <a:t>All vendors receive a </a:t>
            </a:r>
            <a:r>
              <a:rPr lang="en-US" b="1" dirty="0"/>
              <a:t>10% discount</a:t>
            </a:r>
            <a:r>
              <a:rPr lang="en-US" dirty="0"/>
              <a:t> on spare parts purchases through the platform.</a:t>
            </a:r>
          </a:p>
          <a:p>
            <a:endParaRPr lang="en-US" dirty="0"/>
          </a:p>
        </p:txBody>
      </p:sp>
      <p:pic>
        <p:nvPicPr>
          <p:cNvPr id="8" name="Content Placeholder 7">
            <a:extLst>
              <a:ext uri="{FF2B5EF4-FFF2-40B4-BE49-F238E27FC236}">
                <a16:creationId xmlns:a16="http://schemas.microsoft.com/office/drawing/2014/main" id="{81E18F1D-F737-3AB3-EEDB-769E9FDEF7A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751852" y="898525"/>
            <a:ext cx="2271450" cy="5060950"/>
          </a:xfrm>
          <a:prstGeom prst="rect">
            <a:avLst/>
          </a:prstGeom>
        </p:spPr>
      </p:pic>
    </p:spTree>
    <p:extLst>
      <p:ext uri="{BB962C8B-B14F-4D97-AF65-F5344CB8AC3E}">
        <p14:creationId xmlns:p14="http://schemas.microsoft.com/office/powerpoint/2010/main" val="3598814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9F7CF-8179-2136-7A17-535C80A4A1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C92286-EFE2-B46A-0E73-6C392D21D1D0}"/>
              </a:ext>
            </a:extLst>
          </p:cNvPr>
          <p:cNvSpPr>
            <a:spLocks noGrp="1"/>
          </p:cNvSpPr>
          <p:nvPr>
            <p:ph type="title"/>
          </p:nvPr>
        </p:nvSpPr>
        <p:spPr>
          <a:xfrm>
            <a:off x="838200" y="365126"/>
            <a:ext cx="10515600" cy="528010"/>
          </a:xfrm>
        </p:spPr>
        <p:txBody>
          <a:bodyPr>
            <a:normAutofit fontScale="90000"/>
          </a:bodyPr>
          <a:lstStyle/>
          <a:p>
            <a:r>
              <a:rPr lang="en-US" b="1" dirty="0"/>
              <a:t>9. Orders, Reviews &amp; Ratings</a:t>
            </a:r>
            <a:endParaRPr lang="en-US" dirty="0"/>
          </a:p>
        </p:txBody>
      </p:sp>
      <p:sp>
        <p:nvSpPr>
          <p:cNvPr id="3" name="Content Placeholder 2">
            <a:extLst>
              <a:ext uri="{FF2B5EF4-FFF2-40B4-BE49-F238E27FC236}">
                <a16:creationId xmlns:a16="http://schemas.microsoft.com/office/drawing/2014/main" id="{4A9828A1-6DAB-948D-1F6E-ED55EB2D47CC}"/>
              </a:ext>
            </a:extLst>
          </p:cNvPr>
          <p:cNvSpPr>
            <a:spLocks noGrp="1"/>
          </p:cNvSpPr>
          <p:nvPr>
            <p:ph sz="half" idx="1"/>
          </p:nvPr>
        </p:nvSpPr>
        <p:spPr>
          <a:xfrm>
            <a:off x="838200" y="1116419"/>
            <a:ext cx="6082338" cy="5060544"/>
          </a:xfrm>
        </p:spPr>
        <p:txBody>
          <a:bodyPr/>
          <a:lstStyle/>
          <a:p>
            <a:r>
              <a:rPr lang="en-US" dirty="0"/>
              <a:t>Vendors can monitor customer feedback and order history.</a:t>
            </a:r>
          </a:p>
          <a:p>
            <a:r>
              <a:rPr lang="en-US" b="1" dirty="0"/>
              <a:t>Features</a:t>
            </a:r>
            <a:endParaRPr lang="en-US" dirty="0"/>
          </a:p>
          <a:p>
            <a:pPr lvl="0"/>
            <a:r>
              <a:rPr lang="en-US" dirty="0"/>
              <a:t>View Orders </a:t>
            </a:r>
          </a:p>
          <a:p>
            <a:pPr lvl="0"/>
            <a:r>
              <a:rPr lang="en-US" dirty="0"/>
              <a:t>View Customer Reviews </a:t>
            </a:r>
          </a:p>
          <a:p>
            <a:pPr lvl="0"/>
            <a:r>
              <a:rPr lang="en-US" dirty="0"/>
              <a:t>View Ratings </a:t>
            </a:r>
          </a:p>
          <a:p>
            <a:pPr lvl="0"/>
            <a:r>
              <a:rPr lang="en-US" dirty="0"/>
              <a:t>Review Performance Tracking </a:t>
            </a:r>
          </a:p>
          <a:p>
            <a:r>
              <a:rPr lang="en-US" dirty="0"/>
              <a:t>This helps improve service quality and customer satisfaction.</a:t>
            </a:r>
          </a:p>
          <a:p>
            <a:endParaRPr lang="en-US" dirty="0"/>
          </a:p>
        </p:txBody>
      </p:sp>
      <p:pic>
        <p:nvPicPr>
          <p:cNvPr id="6" name="Content Placeholder 5">
            <a:extLst>
              <a:ext uri="{FF2B5EF4-FFF2-40B4-BE49-F238E27FC236}">
                <a16:creationId xmlns:a16="http://schemas.microsoft.com/office/drawing/2014/main" id="{DA4E558F-FFF0-26A3-ED2E-E729B5DF887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9496131" y="1116013"/>
            <a:ext cx="2271450" cy="5060950"/>
          </a:xfrm>
          <a:prstGeom prst="rect">
            <a:avLst/>
          </a:prstGeom>
        </p:spPr>
      </p:pic>
      <p:pic>
        <p:nvPicPr>
          <p:cNvPr id="8" name="Picture 7">
            <a:extLst>
              <a:ext uri="{FF2B5EF4-FFF2-40B4-BE49-F238E27FC236}">
                <a16:creationId xmlns:a16="http://schemas.microsoft.com/office/drawing/2014/main" id="{FD7F0D61-7E71-2BBA-F336-F10BAF4C96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2609" y="1190846"/>
            <a:ext cx="2271450" cy="5060951"/>
          </a:xfrm>
          <a:prstGeom prst="rect">
            <a:avLst/>
          </a:prstGeom>
        </p:spPr>
      </p:pic>
    </p:spTree>
    <p:extLst>
      <p:ext uri="{BB962C8B-B14F-4D97-AF65-F5344CB8AC3E}">
        <p14:creationId xmlns:p14="http://schemas.microsoft.com/office/powerpoint/2010/main" val="790570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0F31C-9407-B817-1D9A-8036095696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EE21D8-046B-AFBD-509B-DA766574E3E9}"/>
              </a:ext>
            </a:extLst>
          </p:cNvPr>
          <p:cNvSpPr>
            <a:spLocks noGrp="1"/>
          </p:cNvSpPr>
          <p:nvPr>
            <p:ph type="title"/>
          </p:nvPr>
        </p:nvSpPr>
        <p:spPr>
          <a:xfrm>
            <a:off x="838200" y="365126"/>
            <a:ext cx="10515600" cy="528010"/>
          </a:xfrm>
        </p:spPr>
        <p:txBody>
          <a:bodyPr>
            <a:normAutofit fontScale="90000"/>
          </a:bodyPr>
          <a:lstStyle/>
          <a:p>
            <a:r>
              <a:rPr lang="en-US" b="1" dirty="0"/>
              <a:t>10. Notification Center</a:t>
            </a:r>
            <a:endParaRPr lang="en-US" dirty="0"/>
          </a:p>
        </p:txBody>
      </p:sp>
      <p:sp>
        <p:nvSpPr>
          <p:cNvPr id="3" name="Content Placeholder 2">
            <a:extLst>
              <a:ext uri="{FF2B5EF4-FFF2-40B4-BE49-F238E27FC236}">
                <a16:creationId xmlns:a16="http://schemas.microsoft.com/office/drawing/2014/main" id="{821FA215-2ADF-93F2-2C4A-C9D6ADC59249}"/>
              </a:ext>
            </a:extLst>
          </p:cNvPr>
          <p:cNvSpPr>
            <a:spLocks noGrp="1"/>
          </p:cNvSpPr>
          <p:nvPr>
            <p:ph sz="half" idx="1"/>
          </p:nvPr>
        </p:nvSpPr>
        <p:spPr>
          <a:xfrm>
            <a:off x="838199" y="1116419"/>
            <a:ext cx="7370135" cy="5060544"/>
          </a:xfrm>
        </p:spPr>
        <p:txBody>
          <a:bodyPr/>
          <a:lstStyle/>
          <a:p>
            <a:r>
              <a:rPr lang="en-US" dirty="0"/>
              <a:t>The Notification Page provides real-time updates.</a:t>
            </a:r>
          </a:p>
          <a:p>
            <a:r>
              <a:rPr lang="en-US" b="1" dirty="0"/>
              <a:t>Notifications Include</a:t>
            </a:r>
            <a:endParaRPr lang="en-US" dirty="0"/>
          </a:p>
          <a:p>
            <a:pPr lvl="0"/>
            <a:r>
              <a:rPr lang="en-US" dirty="0"/>
              <a:t>New Booking Alerts </a:t>
            </a:r>
          </a:p>
          <a:p>
            <a:pPr lvl="0"/>
            <a:r>
              <a:rPr lang="en-US" dirty="0"/>
              <a:t>Booking Status Updates </a:t>
            </a:r>
          </a:p>
          <a:p>
            <a:pPr lvl="0"/>
            <a:r>
              <a:rPr lang="en-US" dirty="0"/>
              <a:t>Payment Updates </a:t>
            </a:r>
          </a:p>
          <a:p>
            <a:pPr lvl="0"/>
            <a:r>
              <a:rPr lang="en-US" dirty="0"/>
              <a:t>Wallet Requests </a:t>
            </a:r>
          </a:p>
          <a:p>
            <a:pPr lvl="0"/>
            <a:r>
              <a:rPr lang="en-US" dirty="0"/>
              <a:t>System Notifications </a:t>
            </a:r>
          </a:p>
          <a:p>
            <a:pPr lvl="0"/>
            <a:r>
              <a:rPr lang="en-US" dirty="0"/>
              <a:t>Promotional Updates </a:t>
            </a:r>
          </a:p>
          <a:p>
            <a:endParaRPr lang="en-US" dirty="0"/>
          </a:p>
        </p:txBody>
      </p:sp>
      <p:pic>
        <p:nvPicPr>
          <p:cNvPr id="6" name="Content Placeholder 5">
            <a:extLst>
              <a:ext uri="{FF2B5EF4-FFF2-40B4-BE49-F238E27FC236}">
                <a16:creationId xmlns:a16="http://schemas.microsoft.com/office/drawing/2014/main" id="{F8AF6FD4-980F-8B58-D9DF-E0E59005CB9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730587" y="999055"/>
            <a:ext cx="2271450" cy="5060950"/>
          </a:xfrm>
          <a:prstGeom prst="rect">
            <a:avLst/>
          </a:prstGeom>
        </p:spPr>
      </p:pic>
    </p:spTree>
    <p:extLst>
      <p:ext uri="{BB962C8B-B14F-4D97-AF65-F5344CB8AC3E}">
        <p14:creationId xmlns:p14="http://schemas.microsoft.com/office/powerpoint/2010/main" val="460306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7EDFE-2F56-C3F8-CB3F-9571AFB67B13}"/>
              </a:ext>
            </a:extLst>
          </p:cNvPr>
          <p:cNvSpPr>
            <a:spLocks noGrp="1"/>
          </p:cNvSpPr>
          <p:nvPr>
            <p:ph type="title"/>
          </p:nvPr>
        </p:nvSpPr>
        <p:spPr>
          <a:xfrm>
            <a:off x="838200" y="365126"/>
            <a:ext cx="10515600" cy="528010"/>
          </a:xfrm>
        </p:spPr>
        <p:txBody>
          <a:bodyPr>
            <a:normAutofit fontScale="90000"/>
          </a:bodyPr>
          <a:lstStyle/>
          <a:p>
            <a:r>
              <a:rPr lang="en-US" b="1" dirty="0"/>
              <a:t>11. Profile Management</a:t>
            </a:r>
            <a:endParaRPr lang="en-US" dirty="0"/>
          </a:p>
        </p:txBody>
      </p:sp>
      <p:sp>
        <p:nvSpPr>
          <p:cNvPr id="3" name="Content Placeholder 2">
            <a:extLst>
              <a:ext uri="{FF2B5EF4-FFF2-40B4-BE49-F238E27FC236}">
                <a16:creationId xmlns:a16="http://schemas.microsoft.com/office/drawing/2014/main" id="{ADC980D8-FD37-B741-152F-BD0B1BEE5C2D}"/>
              </a:ext>
            </a:extLst>
          </p:cNvPr>
          <p:cNvSpPr>
            <a:spLocks noGrp="1"/>
          </p:cNvSpPr>
          <p:nvPr>
            <p:ph sz="half" idx="1"/>
          </p:nvPr>
        </p:nvSpPr>
        <p:spPr>
          <a:xfrm>
            <a:off x="838199" y="1116419"/>
            <a:ext cx="7370135" cy="5060544"/>
          </a:xfrm>
        </p:spPr>
        <p:txBody>
          <a:bodyPr/>
          <a:lstStyle/>
          <a:p>
            <a:r>
              <a:rPr lang="en-US" dirty="0"/>
              <a:t>The Profile Page contains complete vendor information.</a:t>
            </a:r>
          </a:p>
          <a:p>
            <a:r>
              <a:rPr lang="en-US" b="1" dirty="0"/>
              <a:t>Features</a:t>
            </a:r>
            <a:endParaRPr lang="en-US" dirty="0"/>
          </a:p>
          <a:p>
            <a:pPr lvl="0"/>
            <a:r>
              <a:rPr lang="en-US" dirty="0"/>
              <a:t>View Profile Details </a:t>
            </a:r>
          </a:p>
          <a:p>
            <a:pPr lvl="0"/>
            <a:r>
              <a:rPr lang="en-US" dirty="0"/>
              <a:t>Edit Profile Information </a:t>
            </a:r>
          </a:p>
          <a:p>
            <a:pPr lvl="0"/>
            <a:r>
              <a:rPr lang="en-US" dirty="0"/>
              <a:t>Update Contact Information </a:t>
            </a:r>
          </a:p>
          <a:p>
            <a:pPr lvl="0"/>
            <a:r>
              <a:rPr lang="en-US" dirty="0"/>
              <a:t>Change Password </a:t>
            </a:r>
          </a:p>
          <a:p>
            <a:pPr lvl="0"/>
            <a:r>
              <a:rPr lang="en-US" dirty="0"/>
              <a:t>Business Information Management </a:t>
            </a:r>
          </a:p>
          <a:p>
            <a:endParaRPr lang="en-US" dirty="0"/>
          </a:p>
        </p:txBody>
      </p:sp>
      <p:pic>
        <p:nvPicPr>
          <p:cNvPr id="6" name="Content Placeholder 5">
            <a:extLst>
              <a:ext uri="{FF2B5EF4-FFF2-40B4-BE49-F238E27FC236}">
                <a16:creationId xmlns:a16="http://schemas.microsoft.com/office/drawing/2014/main" id="{49AA0CFD-231F-7FBD-08B4-587440C334E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751852" y="893136"/>
            <a:ext cx="2271450" cy="5060950"/>
          </a:xfrm>
          <a:prstGeom prst="rect">
            <a:avLst/>
          </a:prstGeom>
        </p:spPr>
      </p:pic>
    </p:spTree>
    <p:extLst>
      <p:ext uri="{BB962C8B-B14F-4D97-AF65-F5344CB8AC3E}">
        <p14:creationId xmlns:p14="http://schemas.microsoft.com/office/powerpoint/2010/main" val="4056264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6E377-FD1B-6A65-1E56-07BC1A91C640}"/>
              </a:ext>
            </a:extLst>
          </p:cNvPr>
          <p:cNvSpPr>
            <a:spLocks noGrp="1"/>
          </p:cNvSpPr>
          <p:nvPr>
            <p:ph type="title"/>
          </p:nvPr>
        </p:nvSpPr>
        <p:spPr>
          <a:xfrm>
            <a:off x="838200" y="365126"/>
            <a:ext cx="10515600" cy="719396"/>
          </a:xfrm>
        </p:spPr>
        <p:txBody>
          <a:bodyPr>
            <a:normAutofit/>
          </a:bodyPr>
          <a:lstStyle/>
          <a:p>
            <a:r>
              <a:rPr lang="en-US" b="1" dirty="0"/>
              <a:t>Vendor Website Panel</a:t>
            </a:r>
            <a:endParaRPr lang="en-US" dirty="0"/>
          </a:p>
        </p:txBody>
      </p:sp>
      <p:sp>
        <p:nvSpPr>
          <p:cNvPr id="3" name="Content Placeholder 2">
            <a:extLst>
              <a:ext uri="{FF2B5EF4-FFF2-40B4-BE49-F238E27FC236}">
                <a16:creationId xmlns:a16="http://schemas.microsoft.com/office/drawing/2014/main" id="{27B27B0E-CB8B-A245-1622-E863BBC57B03}"/>
              </a:ext>
            </a:extLst>
          </p:cNvPr>
          <p:cNvSpPr>
            <a:spLocks noGrp="1"/>
          </p:cNvSpPr>
          <p:nvPr>
            <p:ph idx="1"/>
          </p:nvPr>
        </p:nvSpPr>
        <p:spPr>
          <a:xfrm>
            <a:off x="838200" y="1180215"/>
            <a:ext cx="10515600" cy="5550194"/>
          </a:xfrm>
        </p:spPr>
        <p:txBody>
          <a:bodyPr>
            <a:normAutofit fontScale="92500" lnSpcReduction="10000"/>
          </a:bodyPr>
          <a:lstStyle/>
          <a:p>
            <a:r>
              <a:rPr lang="en-US" dirty="0"/>
              <a:t>In addition to the Vendor Mobile App, vendors can access the same functionalities through the Vendor Website Panel.</a:t>
            </a:r>
          </a:p>
          <a:p>
            <a:r>
              <a:rPr lang="en-US" dirty="0"/>
              <a:t>The Vendor Panel includes:</a:t>
            </a:r>
          </a:p>
          <a:p>
            <a:pPr lvl="0"/>
            <a:r>
              <a:rPr lang="en-US" dirty="0"/>
              <a:t>Dashboard </a:t>
            </a:r>
          </a:p>
          <a:p>
            <a:pPr lvl="0"/>
            <a:r>
              <a:rPr lang="en-US" dirty="0"/>
              <a:t>Booking Management </a:t>
            </a:r>
          </a:p>
          <a:p>
            <a:pPr lvl="0"/>
            <a:r>
              <a:rPr lang="en-US" dirty="0"/>
              <a:t>Live Tracking </a:t>
            </a:r>
          </a:p>
          <a:p>
            <a:pPr lvl="0"/>
            <a:r>
              <a:rPr lang="en-US" dirty="0"/>
              <a:t>Billing &amp; Invoice Generation </a:t>
            </a:r>
          </a:p>
          <a:p>
            <a:pPr lvl="0"/>
            <a:r>
              <a:rPr lang="en-US" dirty="0"/>
              <a:t>Spare Parts Management </a:t>
            </a:r>
          </a:p>
          <a:p>
            <a:pPr lvl="0"/>
            <a:r>
              <a:rPr lang="en-US" dirty="0"/>
              <a:t>Order Management </a:t>
            </a:r>
          </a:p>
          <a:p>
            <a:pPr lvl="0"/>
            <a:r>
              <a:rPr lang="en-US" dirty="0"/>
              <a:t>Reviews &amp; Ratings </a:t>
            </a:r>
          </a:p>
          <a:p>
            <a:pPr lvl="0"/>
            <a:r>
              <a:rPr lang="en-US" dirty="0"/>
              <a:t>Notifications </a:t>
            </a:r>
          </a:p>
          <a:p>
            <a:pPr lvl="0"/>
            <a:r>
              <a:rPr lang="en-US" dirty="0"/>
              <a:t>Profile Management </a:t>
            </a:r>
          </a:p>
          <a:p>
            <a:endParaRPr lang="en-US" dirty="0"/>
          </a:p>
        </p:txBody>
      </p:sp>
      <p:pic>
        <p:nvPicPr>
          <p:cNvPr id="5" name="Picture 4">
            <a:extLst>
              <a:ext uri="{FF2B5EF4-FFF2-40B4-BE49-F238E27FC236}">
                <a16:creationId xmlns:a16="http://schemas.microsoft.com/office/drawing/2014/main" id="{B7A019FD-AC39-0A3B-C6DA-D28B4BB00D21}"/>
              </a:ext>
            </a:extLst>
          </p:cNvPr>
          <p:cNvPicPr>
            <a:picLocks noChangeAspect="1"/>
          </p:cNvPicPr>
          <p:nvPr/>
        </p:nvPicPr>
        <p:blipFill>
          <a:blip r:embed="rId2"/>
          <a:stretch>
            <a:fillRect/>
          </a:stretch>
        </p:blipFill>
        <p:spPr>
          <a:xfrm>
            <a:off x="5699087" y="2626235"/>
            <a:ext cx="6140552" cy="3062183"/>
          </a:xfrm>
          <a:prstGeom prst="rect">
            <a:avLst/>
          </a:prstGeom>
        </p:spPr>
      </p:pic>
    </p:spTree>
    <p:extLst>
      <p:ext uri="{BB962C8B-B14F-4D97-AF65-F5344CB8AC3E}">
        <p14:creationId xmlns:p14="http://schemas.microsoft.com/office/powerpoint/2010/main" val="1857100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F94DC-734D-197F-2B60-3540CAA1CB59}"/>
              </a:ext>
            </a:extLst>
          </p:cNvPr>
          <p:cNvSpPr>
            <a:spLocks noGrp="1"/>
          </p:cNvSpPr>
          <p:nvPr>
            <p:ph type="title"/>
          </p:nvPr>
        </p:nvSpPr>
        <p:spPr>
          <a:xfrm>
            <a:off x="838200" y="365125"/>
            <a:ext cx="10515600" cy="666233"/>
          </a:xfrm>
        </p:spPr>
        <p:txBody>
          <a:bodyPr>
            <a:normAutofit fontScale="90000"/>
          </a:bodyPr>
          <a:lstStyle/>
          <a:p>
            <a:r>
              <a:rPr lang="en-US" b="1" dirty="0"/>
              <a:t>Wallet Management (Website Panel)</a:t>
            </a:r>
            <a:endParaRPr lang="en-US" dirty="0"/>
          </a:p>
        </p:txBody>
      </p:sp>
      <p:sp>
        <p:nvSpPr>
          <p:cNvPr id="3" name="Content Placeholder 2">
            <a:extLst>
              <a:ext uri="{FF2B5EF4-FFF2-40B4-BE49-F238E27FC236}">
                <a16:creationId xmlns:a16="http://schemas.microsoft.com/office/drawing/2014/main" id="{C4396CB3-8DCE-F352-B9BE-3ADED5E36AA4}"/>
              </a:ext>
            </a:extLst>
          </p:cNvPr>
          <p:cNvSpPr>
            <a:spLocks noGrp="1"/>
          </p:cNvSpPr>
          <p:nvPr>
            <p:ph idx="1"/>
          </p:nvPr>
        </p:nvSpPr>
        <p:spPr>
          <a:xfrm>
            <a:off x="838200" y="1127051"/>
            <a:ext cx="10515600" cy="5475768"/>
          </a:xfrm>
        </p:spPr>
        <p:txBody>
          <a:bodyPr>
            <a:normAutofit fontScale="77500" lnSpcReduction="20000"/>
          </a:bodyPr>
          <a:lstStyle/>
          <a:p>
            <a:r>
              <a:rPr lang="en-US" dirty="0"/>
              <a:t>An additional Wallet Module is available in the Vendor Website Panel.</a:t>
            </a:r>
          </a:p>
          <a:p>
            <a:r>
              <a:rPr lang="en-US" b="1" dirty="0"/>
              <a:t>Wallet Features</a:t>
            </a:r>
            <a:endParaRPr lang="en-US" dirty="0"/>
          </a:p>
          <a:p>
            <a:pPr lvl="0"/>
            <a:r>
              <a:rPr lang="en-US" dirty="0"/>
              <a:t>Service Earnings Tracking </a:t>
            </a:r>
          </a:p>
          <a:p>
            <a:pPr lvl="0"/>
            <a:r>
              <a:rPr lang="en-US" dirty="0"/>
              <a:t>Wallet Balance View </a:t>
            </a:r>
          </a:p>
          <a:p>
            <a:pPr lvl="0"/>
            <a:r>
              <a:rPr lang="en-US" dirty="0"/>
              <a:t>Withdrawal Request </a:t>
            </a:r>
          </a:p>
          <a:p>
            <a:pPr lvl="0"/>
            <a:r>
              <a:rPr lang="en-US" dirty="0"/>
              <a:t>Request History </a:t>
            </a:r>
          </a:p>
          <a:p>
            <a:pPr lvl="0"/>
            <a:r>
              <a:rPr lang="en-US" dirty="0"/>
              <a:t>Received Amount History </a:t>
            </a:r>
          </a:p>
          <a:p>
            <a:pPr lvl="0"/>
            <a:r>
              <a:rPr lang="en-US" dirty="0"/>
              <a:t>Transaction Reports </a:t>
            </a:r>
          </a:p>
          <a:p>
            <a:pPr lvl="0"/>
            <a:r>
              <a:rPr lang="en-US" dirty="0"/>
              <a:t>Admin Approval Process </a:t>
            </a:r>
          </a:p>
          <a:p>
            <a:r>
              <a:rPr lang="en-US" b="1" dirty="0"/>
              <a:t>Wallet Workflow</a:t>
            </a:r>
            <a:endParaRPr lang="en-US" dirty="0"/>
          </a:p>
          <a:p>
            <a:pPr lvl="0"/>
            <a:r>
              <a:rPr lang="en-US" dirty="0"/>
              <a:t>Service payments are initially received by the Admin. </a:t>
            </a:r>
          </a:p>
          <a:p>
            <a:pPr lvl="0"/>
            <a:r>
              <a:rPr lang="en-US" dirty="0"/>
              <a:t>Vendor can submit a withdrawal request. </a:t>
            </a:r>
          </a:p>
          <a:p>
            <a:pPr lvl="0"/>
            <a:r>
              <a:rPr lang="en-US" dirty="0"/>
              <a:t>Admin reviews and approves the request. </a:t>
            </a:r>
          </a:p>
          <a:p>
            <a:pPr lvl="0"/>
            <a:r>
              <a:rPr lang="en-US" dirty="0"/>
              <a:t>Approved amount is transferred to the vendor wallet/account. </a:t>
            </a:r>
          </a:p>
          <a:p>
            <a:pPr lvl="0"/>
            <a:r>
              <a:rPr lang="en-US" dirty="0"/>
              <a:t>All transactions are displayed in a detailed history table. </a:t>
            </a:r>
          </a:p>
          <a:p>
            <a:endParaRPr lang="en-US" dirty="0"/>
          </a:p>
        </p:txBody>
      </p:sp>
      <p:pic>
        <p:nvPicPr>
          <p:cNvPr id="5" name="Picture 4">
            <a:extLst>
              <a:ext uri="{FF2B5EF4-FFF2-40B4-BE49-F238E27FC236}">
                <a16:creationId xmlns:a16="http://schemas.microsoft.com/office/drawing/2014/main" id="{8A308588-BD0F-333F-60DC-DBCA000D65EB}"/>
              </a:ext>
            </a:extLst>
          </p:cNvPr>
          <p:cNvPicPr>
            <a:picLocks noChangeAspect="1"/>
          </p:cNvPicPr>
          <p:nvPr/>
        </p:nvPicPr>
        <p:blipFill>
          <a:blip r:embed="rId2"/>
          <a:stretch>
            <a:fillRect/>
          </a:stretch>
        </p:blipFill>
        <p:spPr>
          <a:xfrm>
            <a:off x="5870634" y="1565048"/>
            <a:ext cx="6080361" cy="3020939"/>
          </a:xfrm>
          <a:prstGeom prst="rect">
            <a:avLst/>
          </a:prstGeom>
        </p:spPr>
      </p:pic>
    </p:spTree>
    <p:extLst>
      <p:ext uri="{BB962C8B-B14F-4D97-AF65-F5344CB8AC3E}">
        <p14:creationId xmlns:p14="http://schemas.microsoft.com/office/powerpoint/2010/main" val="2170370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01B7E-90C9-11F7-F2F7-4714F7B693F5}"/>
              </a:ext>
            </a:extLst>
          </p:cNvPr>
          <p:cNvSpPr>
            <a:spLocks noGrp="1"/>
          </p:cNvSpPr>
          <p:nvPr>
            <p:ph type="title"/>
          </p:nvPr>
        </p:nvSpPr>
        <p:spPr>
          <a:xfrm>
            <a:off x="728330" y="635110"/>
            <a:ext cx="10515600" cy="1842277"/>
          </a:xfrm>
        </p:spPr>
        <p:txBody>
          <a:bodyPr>
            <a:normAutofit fontScale="90000"/>
          </a:bodyPr>
          <a:lstStyle/>
          <a:p>
            <a:r>
              <a:rPr lang="en-US" b="1" dirty="0"/>
              <a:t>Platform Availability</a:t>
            </a:r>
            <a:br>
              <a:rPr lang="en-US" b="1" dirty="0"/>
            </a:br>
            <a:br>
              <a:rPr lang="en-US" b="1" dirty="0"/>
            </a:br>
            <a:r>
              <a:rPr lang="en-US" sz="2700" dirty="0"/>
              <a:t>The IWS Vendor System can be accessed through:</a:t>
            </a:r>
            <a:br>
              <a:rPr lang="en-US" sz="2700" dirty="0"/>
            </a:br>
            <a:endParaRPr lang="en-US" sz="2700" dirty="0"/>
          </a:p>
        </p:txBody>
      </p:sp>
      <p:sp>
        <p:nvSpPr>
          <p:cNvPr id="3" name="Content Placeholder 2">
            <a:extLst>
              <a:ext uri="{FF2B5EF4-FFF2-40B4-BE49-F238E27FC236}">
                <a16:creationId xmlns:a16="http://schemas.microsoft.com/office/drawing/2014/main" id="{0F08CD60-16E1-4B0F-FFE8-584A9EB062CD}"/>
              </a:ext>
            </a:extLst>
          </p:cNvPr>
          <p:cNvSpPr>
            <a:spLocks noGrp="1"/>
          </p:cNvSpPr>
          <p:nvPr>
            <p:ph sz="half" idx="1"/>
          </p:nvPr>
        </p:nvSpPr>
        <p:spPr>
          <a:xfrm>
            <a:off x="728329" y="2691459"/>
            <a:ext cx="5147930" cy="3317357"/>
          </a:xfrm>
        </p:spPr>
        <p:txBody>
          <a:bodyPr/>
          <a:lstStyle/>
          <a:p>
            <a:pPr marL="0" indent="0">
              <a:buNone/>
            </a:pPr>
            <a:r>
              <a:rPr lang="en-US" b="1" dirty="0"/>
              <a:t>1. Vendor Mobile Application</a:t>
            </a:r>
            <a:endParaRPr lang="en-US" dirty="0"/>
          </a:p>
          <a:p>
            <a:pPr lvl="0"/>
            <a:r>
              <a:rPr lang="en-US" dirty="0"/>
              <a:t>Android Application </a:t>
            </a:r>
          </a:p>
          <a:p>
            <a:pPr lvl="0"/>
            <a:r>
              <a:rPr lang="en-US" dirty="0"/>
              <a:t>Real-Time Tracking </a:t>
            </a:r>
          </a:p>
          <a:p>
            <a:pPr lvl="0"/>
            <a:r>
              <a:rPr lang="en-US" dirty="0"/>
              <a:t>Booking Management </a:t>
            </a:r>
          </a:p>
          <a:p>
            <a:pPr lvl="0"/>
            <a:r>
              <a:rPr lang="en-US" dirty="0"/>
              <a:t>Notifications </a:t>
            </a:r>
          </a:p>
        </p:txBody>
      </p:sp>
      <p:sp>
        <p:nvSpPr>
          <p:cNvPr id="4" name="Content Placeholder 3">
            <a:extLst>
              <a:ext uri="{FF2B5EF4-FFF2-40B4-BE49-F238E27FC236}">
                <a16:creationId xmlns:a16="http://schemas.microsoft.com/office/drawing/2014/main" id="{1E002FEC-10EA-46A7-4408-907653654013}"/>
              </a:ext>
            </a:extLst>
          </p:cNvPr>
          <p:cNvSpPr>
            <a:spLocks noGrp="1"/>
          </p:cNvSpPr>
          <p:nvPr>
            <p:ph sz="half" idx="2"/>
          </p:nvPr>
        </p:nvSpPr>
        <p:spPr>
          <a:xfrm>
            <a:off x="6315743" y="2691459"/>
            <a:ext cx="5335772" cy="3745503"/>
          </a:xfrm>
        </p:spPr>
        <p:txBody>
          <a:bodyPr/>
          <a:lstStyle/>
          <a:p>
            <a:pPr marL="0" indent="0">
              <a:buNone/>
            </a:pPr>
            <a:r>
              <a:rPr lang="en-US" b="1" dirty="0"/>
              <a:t>2. Vendor Website Panel</a:t>
            </a:r>
            <a:endParaRPr lang="en-US" dirty="0"/>
          </a:p>
          <a:p>
            <a:pPr lvl="0"/>
            <a:r>
              <a:rPr lang="en-US" dirty="0"/>
              <a:t>Web-Based Management Portal </a:t>
            </a:r>
          </a:p>
          <a:p>
            <a:pPr lvl="0"/>
            <a:r>
              <a:rPr lang="en-US" dirty="0"/>
              <a:t>Wallet Management </a:t>
            </a:r>
          </a:p>
          <a:p>
            <a:pPr lvl="0"/>
            <a:r>
              <a:rPr lang="en-US" dirty="0"/>
              <a:t>Reports &amp; Analytics </a:t>
            </a:r>
          </a:p>
          <a:p>
            <a:pPr lvl="0"/>
            <a:r>
              <a:rPr lang="en-US" dirty="0"/>
              <a:t>Full Business Operations Management </a:t>
            </a:r>
          </a:p>
          <a:p>
            <a:pPr marL="0" indent="0">
              <a:buNone/>
            </a:pPr>
            <a:endParaRPr lang="en-US" dirty="0"/>
          </a:p>
        </p:txBody>
      </p:sp>
    </p:spTree>
    <p:extLst>
      <p:ext uri="{BB962C8B-B14F-4D97-AF65-F5344CB8AC3E}">
        <p14:creationId xmlns:p14="http://schemas.microsoft.com/office/powerpoint/2010/main" val="23675648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93A75-F01D-F71C-E755-46C7B317F18C}"/>
              </a:ext>
            </a:extLst>
          </p:cNvPr>
          <p:cNvSpPr>
            <a:spLocks noGrp="1"/>
          </p:cNvSpPr>
          <p:nvPr>
            <p:ph type="title"/>
          </p:nvPr>
        </p:nvSpPr>
        <p:spPr>
          <a:xfrm>
            <a:off x="859465" y="-136119"/>
            <a:ext cx="8380228" cy="136119"/>
          </a:xfrm>
        </p:spPr>
        <p:txBody>
          <a:bodyPr>
            <a:normAutofit fontScale="90000"/>
          </a:bodyPr>
          <a:lstStyle/>
          <a:p>
            <a:endParaRPr lang="en-US" dirty="0"/>
          </a:p>
        </p:txBody>
      </p:sp>
      <p:sp>
        <p:nvSpPr>
          <p:cNvPr id="3" name="Text Placeholder 2">
            <a:extLst>
              <a:ext uri="{FF2B5EF4-FFF2-40B4-BE49-F238E27FC236}">
                <a16:creationId xmlns:a16="http://schemas.microsoft.com/office/drawing/2014/main" id="{4697E056-EC53-5C9D-2E53-02B136EFB54B}"/>
              </a:ext>
            </a:extLst>
          </p:cNvPr>
          <p:cNvSpPr>
            <a:spLocks noGrp="1"/>
          </p:cNvSpPr>
          <p:nvPr>
            <p:ph type="body" idx="1"/>
          </p:nvPr>
        </p:nvSpPr>
        <p:spPr>
          <a:xfrm>
            <a:off x="757422" y="622005"/>
            <a:ext cx="10980922" cy="4205176"/>
          </a:xfrm>
        </p:spPr>
        <p:txBody>
          <a:bodyPr>
            <a:normAutofit/>
          </a:bodyPr>
          <a:lstStyle/>
          <a:p>
            <a:r>
              <a:rPr lang="en-US" sz="4000" b="1" dirty="0">
                <a:solidFill>
                  <a:schemeClr val="tx1"/>
                </a:solidFill>
              </a:rPr>
              <a:t>Conclusion</a:t>
            </a:r>
          </a:p>
          <a:p>
            <a:r>
              <a:rPr lang="en-US" dirty="0">
                <a:solidFill>
                  <a:schemeClr val="tx1"/>
                </a:solidFill>
              </a:rPr>
              <a:t>The IWS Vendor App and Ve</a:t>
            </a:r>
            <a:r>
              <a:rPr lang="en-US" dirty="0">
                <a:solidFill>
                  <a:schemeClr val="tx1">
                    <a:lumMod val="95000"/>
                    <a:lumOff val="5000"/>
                  </a:schemeClr>
                </a:solidFill>
              </a:rPr>
              <a:t>ndo</a:t>
            </a:r>
            <a:r>
              <a:rPr lang="en-US" dirty="0">
                <a:solidFill>
                  <a:schemeClr val="tx1"/>
                </a:solidFill>
              </a:rPr>
              <a:t>r Website Panel provide a complete service management solution, enabling vendors to manage bookings, live tracking, billing, spare parts purchases, customer reviews, notifications, wallet transactions, and business performance through both mobile and web platforms. This ensures efficient operations, real-time communication, and seamless service delivery across the entire IWS ecosystem.</a:t>
            </a:r>
          </a:p>
          <a:p>
            <a:endParaRPr lang="en-US" dirty="0"/>
          </a:p>
        </p:txBody>
      </p:sp>
      <p:pic>
        <p:nvPicPr>
          <p:cNvPr id="5" name="Picture 4">
            <a:extLst>
              <a:ext uri="{FF2B5EF4-FFF2-40B4-BE49-F238E27FC236}">
                <a16:creationId xmlns:a16="http://schemas.microsoft.com/office/drawing/2014/main" id="{3FC5C833-7FE5-8114-13E5-75D2BE970E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8838" y="4369973"/>
            <a:ext cx="3377116" cy="1355494"/>
          </a:xfrm>
          <a:prstGeom prst="rect">
            <a:avLst/>
          </a:prstGeom>
        </p:spPr>
      </p:pic>
    </p:spTree>
    <p:extLst>
      <p:ext uri="{BB962C8B-B14F-4D97-AF65-F5344CB8AC3E}">
        <p14:creationId xmlns:p14="http://schemas.microsoft.com/office/powerpoint/2010/main" val="11694337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TotalTime>
  <Words>714</Words>
  <Application>Microsoft Office PowerPoint</Application>
  <PresentationFormat>Widescreen</PresentationFormat>
  <Paragraphs>147</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Arial Black</vt:lpstr>
      <vt:lpstr>Office Theme</vt:lpstr>
      <vt:lpstr>IWS VENDOR App - VENDOR FLOW DOCUMENTATION</vt:lpstr>
      <vt:lpstr>1. Vendor Registration</vt:lpstr>
      <vt:lpstr>2. Vendor Login</vt:lpstr>
      <vt:lpstr>3. Dashboard</vt:lpstr>
      <vt:lpstr>4. Booking Management</vt:lpstr>
      <vt:lpstr>5. Service Status Update</vt:lpstr>
      <vt:lpstr>6. Live Tracking Management</vt:lpstr>
      <vt:lpstr>7. Billing &amp; Challan Management</vt:lpstr>
      <vt:lpstr>8. Spare Parts Module</vt:lpstr>
      <vt:lpstr>9. Orders, Reviews &amp; Ratings</vt:lpstr>
      <vt:lpstr>10. Notification Center</vt:lpstr>
      <vt:lpstr>11. Profile Management</vt:lpstr>
      <vt:lpstr>Vendor Website Panel</vt:lpstr>
      <vt:lpstr>Wallet Management (Website Panel)</vt:lpstr>
      <vt:lpstr>Platform Availability  The IWS Vendor System can be accessed through: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Vijaykumar s</dc:creator>
  <cp:lastModifiedBy>Vijaykumar s</cp:lastModifiedBy>
  <cp:revision>1</cp:revision>
  <dcterms:created xsi:type="dcterms:W3CDTF">2026-06-01T04:43:41Z</dcterms:created>
  <dcterms:modified xsi:type="dcterms:W3CDTF">2026-06-01T07:17:40Z</dcterms:modified>
</cp:coreProperties>
</file>