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7" r:id="rId4"/>
    <p:sldId id="261" r:id="rId5"/>
    <p:sldId id="269" r:id="rId6"/>
    <p:sldId id="270" r:id="rId7"/>
    <p:sldId id="271" r:id="rId8"/>
    <p:sldId id="267" r:id="rId9"/>
    <p:sldId id="268" r:id="rId10"/>
    <p:sldId id="266" r:id="rId11"/>
    <p:sldId id="265" r:id="rId12"/>
    <p:sldId id="264" r:id="rId13"/>
    <p:sldId id="263" r:id="rId14"/>
    <p:sldId id="277" r:id="rId15"/>
    <p:sldId id="276" r:id="rId16"/>
    <p:sldId id="274" r:id="rId17"/>
    <p:sldId id="275" r:id="rId18"/>
    <p:sldId id="273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75F35-BAE5-4EB1-9B16-58CDD1B73CD3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EBC6B-CC09-465F-B900-74F04F88F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2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EBC6B-CC09-465F-B900-74F04F88F4A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81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2925-A31A-EAC4-B613-EE01F4FF2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D669B-E491-E56B-DE76-93162A56C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19CD6-67FD-D43B-8DAD-65E32DEB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5AE9B-B656-B6B5-4B73-B28CED9F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EC828-04D1-E527-43E4-B46F1421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4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79B3-9C18-82EF-77C1-A63E5AE02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EA094-047C-2103-B31C-446F15F30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C3573-A81D-4680-E943-E067BED8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0C246-9C83-03B6-E199-C7C2F28B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0601F-2B0E-65D4-C3CE-F4B1B4D7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77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98B7-C3AA-1880-EEAD-974471539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CAB1A-B58B-713B-0297-FDF09A99E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07DA8-4BEC-C3B3-48C5-C75D9128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45504-A3F5-B850-7A50-DF2E5CA7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08944-6080-9C6E-9DB5-1179CD13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5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7828-F703-CE06-7C7B-6F669A93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047D4-04D0-1FF2-DCEB-B88FFD005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5E934-CE4B-E357-83C4-EC39DFEA9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07091-E5CD-9FF2-796F-B8B26D53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8FC19-5748-BCF3-BF2E-75CDBCADB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767B0-57AD-2674-AF22-F45837EA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6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FF2B-BF2A-F1E2-0B62-009ECD2B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B3634-06A5-2216-E0E1-85B880F39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E5941-38D8-DC76-6B40-26EACD9F7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E4033-4339-12C6-B84E-8AD96FD99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AB8ED-75D3-C46B-DD9B-9AB571046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6822-53EA-BDF8-AE2E-809A6F8A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44E4B-BABF-744D-B28D-1E9DCE24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D0788-434C-76C1-F3A6-82D533AC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73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80D0-E643-D63F-6515-29CB36AE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EF97F-B2A3-9C20-03CC-67474A047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31D03-D801-E8D1-EFC6-6D122727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8FF5A-D352-7EC3-6158-61D42A32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06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A18A0-B1AF-FCE7-BEF5-F0653D3C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DB029-40DA-BA91-0705-665BE38A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0EB12-49C4-C630-750D-46FB45E2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50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E9D42-C53A-3160-FE88-F5922097F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DD2B-72BE-4140-841A-27BD8F25F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F34CA-3841-A1A5-A190-24DDC7F3E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F45A1-D033-D9EE-F779-37BC5611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00CD5-3C1F-D893-5DA6-2D6EFA1A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73DAD-BDFD-9CD3-DEEE-F6E61C6C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1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BE85-E291-E2FD-2432-791137B8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18DF79-726C-7239-ECD0-FE5530030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F992A-3592-C4A3-8E91-7AE644098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6DA4C-3192-977A-027C-424252CF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F0B33-3670-0970-38CD-C68FCD85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D716B-8D88-650A-945F-2886B008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5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94D2-39D4-B00E-6D9D-ECB31914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6FC2B2-C655-569D-8D6E-40B5658D3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567B5-25EC-EFEC-D207-757EF2B3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3100E-9A63-056F-339B-ED87DF12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464AF-8427-A801-D2BA-033E0577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43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9E7B10-E0A2-2709-EAB3-BBB04D8C51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7A522-FEAD-B54F-8BBC-4E6156946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B122F-921B-8C8F-95B2-1FF65F46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D4F78-C778-A3D9-BB19-3B737ECE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61EB0-9740-04C3-A3AF-319EB2F75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2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4FB69-35D7-CC28-5BA4-373BCCDB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9FC85-3844-1554-F46D-5AEC95D2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D833D-DB33-2F88-4782-22237F729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73C6A-46C4-4CDC-84F0-E013E0D5563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035B0-8D8D-3D29-FCDF-E4D8D84E5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4752A-0718-DD1A-02C6-D2A131E4E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12CA9-664A-4791-B654-2C900CB2F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8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884E-DFC1-D754-F4B4-FB1F39B6F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929" y="1389322"/>
            <a:ext cx="12192000" cy="4447953"/>
          </a:xfrm>
        </p:spPr>
        <p:txBody>
          <a:bodyPr>
            <a:normAutofit/>
          </a:bodyPr>
          <a:lstStyle/>
          <a:p>
            <a:r>
              <a:rPr lang="en-IN" b="1" dirty="0"/>
              <a:t>IWS USER APP – USER FLOW DOCUMENTATION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CDD3F-F8E4-C431-B7E9-2A85F663D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85061" y="5686019"/>
            <a:ext cx="1162493" cy="117198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00FF2-1BB3-1450-FA57-79AF167AE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471" y="1389322"/>
            <a:ext cx="3338868" cy="134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5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21E34-12B7-812E-D01C-5AA8C56F5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ECE16B-93A5-364A-D284-102473DF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1. User Registration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068C8B-CC69-0F53-9CCE-127D7F495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When users open the IWS application for the first time, they can create a new account using the Register Page.</a:t>
            </a:r>
            <a:br>
              <a:rPr lang="en-IN" dirty="0"/>
            </a:br>
            <a:r>
              <a:rPr lang="en-IN" dirty="0"/>
              <a:t>Users must enter the required details such as:</a:t>
            </a:r>
            <a:endParaRPr lang="en-US" dirty="0"/>
          </a:p>
          <a:p>
            <a:pPr lvl="0"/>
            <a:r>
              <a:rPr lang="en-IN" dirty="0"/>
              <a:t>Full Name </a:t>
            </a:r>
            <a:endParaRPr lang="en-US" dirty="0"/>
          </a:p>
          <a:p>
            <a:pPr lvl="0"/>
            <a:r>
              <a:rPr lang="en-IN" dirty="0"/>
              <a:t>Email Address </a:t>
            </a:r>
            <a:endParaRPr lang="en-US" dirty="0"/>
          </a:p>
          <a:p>
            <a:pPr lvl="0"/>
            <a:r>
              <a:rPr lang="en-IN" dirty="0"/>
              <a:t>Mobile Number </a:t>
            </a:r>
            <a:endParaRPr lang="en-US" dirty="0"/>
          </a:p>
          <a:p>
            <a:pPr lvl="0"/>
            <a:r>
              <a:rPr lang="en-IN" dirty="0"/>
              <a:t>Password </a:t>
            </a:r>
            <a:endParaRPr lang="en-US" dirty="0"/>
          </a:p>
          <a:p>
            <a:r>
              <a:rPr lang="en-IN" dirty="0"/>
              <a:t>After submitting the details successfully, the user account will be created and ready for login.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DA714F-FA82-0FD5-B875-DE5290D04D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38" y="1550766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28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8F37E2-E1FD-0835-03BF-40DD69BC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IN" b="1" dirty="0"/>
              <a:t>User Login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1DCE6E-CB19-9AF6-DC39-1C579187A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After registration, users can log in using the registered Email ID and Password through the Login Page.</a:t>
            </a:r>
            <a:endParaRPr lang="en-US" dirty="0"/>
          </a:p>
          <a:p>
            <a:r>
              <a:rPr lang="en-IN" dirty="0"/>
              <a:t>Once login is successful, users will be redirected to the Home Page of the application.</a:t>
            </a:r>
            <a:endParaRPr lang="en-US" dirty="0"/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24AB2B5-49E2-8AAD-C99D-2C91347226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444" y="1253331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1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9F18-86DC-633D-4280-1CB9ADFA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3FFA0E-0725-F199-F2EA-122033C4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3. Home Page &amp; Service Category Selection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AA9A6E-2626-9BD3-031E-73FC62D31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On the Home Page, all available vehicle service categories will be displayed.</a:t>
            </a:r>
            <a:endParaRPr lang="en-US" dirty="0"/>
          </a:p>
          <a:p>
            <a:r>
              <a:rPr lang="en-IN" dirty="0"/>
              <a:t>Examples:</a:t>
            </a:r>
            <a:endParaRPr lang="en-US" dirty="0"/>
          </a:p>
          <a:p>
            <a:pPr lvl="0"/>
            <a:r>
              <a:rPr lang="en-IN" dirty="0"/>
              <a:t>Bike Services </a:t>
            </a:r>
            <a:endParaRPr lang="en-US" dirty="0"/>
          </a:p>
          <a:p>
            <a:pPr lvl="0"/>
            <a:r>
              <a:rPr lang="en-IN" dirty="0"/>
              <a:t>Car Services </a:t>
            </a:r>
            <a:endParaRPr lang="en-US" dirty="0"/>
          </a:p>
          <a:p>
            <a:pPr lvl="0"/>
            <a:r>
              <a:rPr lang="en-IN" dirty="0"/>
              <a:t>Heavy Vehicle Services </a:t>
            </a:r>
            <a:endParaRPr lang="en-US" dirty="0"/>
          </a:p>
          <a:p>
            <a:r>
              <a:rPr lang="en-IN" dirty="0"/>
              <a:t>Users can select the required service category based on their vehicle type.</a:t>
            </a:r>
            <a:endParaRPr lang="en-US" dirty="0"/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B8741C2-403B-108F-642D-A53DC3E08B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733" y="1275907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2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E29D-B870-5967-07F4-01584F74C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0BE673-CD24-8D30-0BD3-7D79EF81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4. Vehicle Registration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AEB5F9-E99F-FCA8-BE2D-9EEF2EB50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After selecting a service category, users must register their vehicle details.</a:t>
            </a:r>
            <a:endParaRPr lang="en-US" dirty="0"/>
          </a:p>
          <a:p>
            <a:r>
              <a:rPr lang="en-IN" dirty="0"/>
              <a:t>Vehicle registration includes:</a:t>
            </a:r>
            <a:endParaRPr lang="en-US" dirty="0"/>
          </a:p>
          <a:p>
            <a:pPr lvl="0"/>
            <a:r>
              <a:rPr lang="en-IN" dirty="0"/>
              <a:t>Vehicle Name </a:t>
            </a:r>
            <a:endParaRPr lang="en-US" dirty="0"/>
          </a:p>
          <a:p>
            <a:pPr lvl="0"/>
            <a:r>
              <a:rPr lang="en-IN" dirty="0"/>
              <a:t>Vehicle Number </a:t>
            </a:r>
            <a:endParaRPr lang="en-US" dirty="0"/>
          </a:p>
          <a:p>
            <a:pPr lvl="0"/>
            <a:r>
              <a:rPr lang="en-IN" dirty="0"/>
              <a:t>Vehicle Model </a:t>
            </a:r>
            <a:endParaRPr lang="en-US" dirty="0"/>
          </a:p>
          <a:p>
            <a:pPr lvl="0"/>
            <a:r>
              <a:rPr lang="en-IN" dirty="0"/>
              <a:t>Vehicle Type </a:t>
            </a:r>
            <a:endParaRPr lang="en-US" dirty="0"/>
          </a:p>
          <a:p>
            <a:r>
              <a:rPr lang="en-IN" dirty="0"/>
              <a:t>The registered vehicle details will be saved for future bookings.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20E4D7-A396-E2C8-2F3E-EBFBC2A295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938" y="1253331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1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5323D-5E75-E2A2-58ED-A2C54CB92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79AEBA-8C68-D45B-5AD9-E0D87188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5. Service Selection &amp; Manual Report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489463-17EB-6E43-466C-2F8731D91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Users can then choose the required services for their vehicle.</a:t>
            </a:r>
            <a:endParaRPr lang="en-US" dirty="0"/>
          </a:p>
          <a:p>
            <a:r>
              <a:rPr lang="en-IN" dirty="0"/>
              <a:t>Additional features available:</a:t>
            </a:r>
            <a:endParaRPr lang="en-US" dirty="0"/>
          </a:p>
          <a:p>
            <a:pPr lvl="0"/>
            <a:r>
              <a:rPr lang="en-IN" dirty="0"/>
              <a:t>Select service type </a:t>
            </a:r>
            <a:endParaRPr lang="en-US" dirty="0"/>
          </a:p>
          <a:p>
            <a:pPr lvl="0"/>
            <a:r>
              <a:rPr lang="en-IN" dirty="0"/>
              <a:t>Add manual issue report </a:t>
            </a:r>
            <a:endParaRPr lang="en-US" dirty="0"/>
          </a:p>
          <a:p>
            <a:pPr lvl="0"/>
            <a:r>
              <a:rPr lang="en-IN" dirty="0"/>
              <a:t>Enter emergency service request details </a:t>
            </a:r>
            <a:endParaRPr lang="en-US" dirty="0"/>
          </a:p>
          <a:p>
            <a:r>
              <a:rPr lang="en-IN" dirty="0"/>
              <a:t>This helps the service </a:t>
            </a:r>
            <a:r>
              <a:rPr lang="en-IN" dirty="0" err="1"/>
              <a:t>center</a:t>
            </a:r>
            <a:r>
              <a:rPr lang="en-IN" dirty="0"/>
              <a:t> understand the vehicle condition before booking confirmation.</a:t>
            </a:r>
            <a:endParaRPr lang="en-US" dirty="0"/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77AB4E6-E345-2C7A-BD05-F079C1D5B7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1281" y="1275907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5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5FB2F-C8E0-8050-9E15-82420E98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312EF4-46A2-3976-FF46-605B1B9A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6. Service </a:t>
            </a:r>
            <a:r>
              <a:rPr lang="en-IN" b="1" dirty="0" err="1"/>
              <a:t>Center</a:t>
            </a:r>
            <a:r>
              <a:rPr lang="en-IN" b="1" dirty="0"/>
              <a:t> Selection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660E22-91EA-B982-7285-755BD151A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The application will display the available Service </a:t>
            </a:r>
            <a:r>
              <a:rPr lang="en-IN" dirty="0" err="1"/>
              <a:t>Centers</a:t>
            </a:r>
            <a:r>
              <a:rPr lang="en-IN" dirty="0"/>
              <a:t> based on the selected service category.</a:t>
            </a:r>
            <a:endParaRPr lang="en-US" dirty="0"/>
          </a:p>
          <a:p>
            <a:r>
              <a:rPr lang="en-IN" dirty="0"/>
              <a:t>Users can:</a:t>
            </a:r>
            <a:endParaRPr lang="en-US" dirty="0"/>
          </a:p>
          <a:p>
            <a:pPr lvl="0"/>
            <a:r>
              <a:rPr lang="en-IN" dirty="0"/>
              <a:t>View service </a:t>
            </a:r>
            <a:r>
              <a:rPr lang="en-IN" dirty="0" err="1"/>
              <a:t>center</a:t>
            </a:r>
            <a:r>
              <a:rPr lang="en-IN" dirty="0"/>
              <a:t> details </a:t>
            </a:r>
            <a:endParaRPr lang="en-US" dirty="0"/>
          </a:p>
          <a:p>
            <a:pPr lvl="0"/>
            <a:r>
              <a:rPr lang="en-IN" dirty="0"/>
              <a:t>Check availability </a:t>
            </a:r>
            <a:endParaRPr lang="en-US" dirty="0"/>
          </a:p>
          <a:p>
            <a:pPr lvl="0"/>
            <a:r>
              <a:rPr lang="en-IN" dirty="0"/>
              <a:t>Select the preferred service </a:t>
            </a:r>
            <a:r>
              <a:rPr lang="en-IN" dirty="0" err="1"/>
              <a:t>center</a:t>
            </a:r>
            <a:r>
              <a:rPr lang="en-IN" dirty="0"/>
              <a:t>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4F4C30-E5EE-5002-ADEF-F45DF5EB35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547" y="1275907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33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1C6E-CF2D-A4D2-5CFE-6E71A53C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36678F-BFCD-AE9A-6190-A5A9BA82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7. Time Slot Booking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B99F3C-84C0-BD98-EB69-E937CE00A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75907"/>
            <a:ext cx="5743354" cy="4901056"/>
          </a:xfrm>
        </p:spPr>
        <p:txBody>
          <a:bodyPr/>
          <a:lstStyle/>
          <a:p>
            <a:r>
              <a:rPr lang="en-IN" dirty="0"/>
              <a:t>After selecting the service </a:t>
            </a:r>
            <a:r>
              <a:rPr lang="en-IN" dirty="0" err="1"/>
              <a:t>center</a:t>
            </a:r>
            <a:r>
              <a:rPr lang="en-IN" dirty="0"/>
              <a:t>, users can choose the available Time Slot for service booking.</a:t>
            </a:r>
            <a:endParaRPr lang="en-US" dirty="0"/>
          </a:p>
          <a:p>
            <a:r>
              <a:rPr lang="en-IN" dirty="0"/>
              <a:t>Available timings from the service </a:t>
            </a:r>
            <a:r>
              <a:rPr lang="en-IN" dirty="0" err="1"/>
              <a:t>center</a:t>
            </a:r>
            <a:r>
              <a:rPr lang="en-IN" dirty="0"/>
              <a:t> will be displayed dynamically.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621359-9B60-6A96-02AF-775FA50D3B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868" y="1275907"/>
            <a:ext cx="1952962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1E5CC6-79C2-86F0-0E8C-65E8F4C5F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466" y="1275907"/>
            <a:ext cx="19529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25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DBC5-7BE6-09E6-6D8C-2EA9E82DF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31434-BCE5-2388-AB1D-F99210D7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8. Address Details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E114BE-6813-943D-5D04-C4F221961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Users must then enter the booking address details including:</a:t>
            </a:r>
            <a:endParaRPr lang="en-US" dirty="0"/>
          </a:p>
          <a:p>
            <a:pPr lvl="0"/>
            <a:r>
              <a:rPr lang="en-IN" dirty="0"/>
              <a:t>Name </a:t>
            </a:r>
            <a:endParaRPr lang="en-US" dirty="0"/>
          </a:p>
          <a:p>
            <a:pPr lvl="0"/>
            <a:r>
              <a:rPr lang="en-IN" dirty="0"/>
              <a:t>Phone Number </a:t>
            </a:r>
            <a:endParaRPr lang="en-US" dirty="0"/>
          </a:p>
          <a:p>
            <a:pPr lvl="0"/>
            <a:r>
              <a:rPr lang="en-IN" dirty="0"/>
              <a:t>Address </a:t>
            </a:r>
            <a:endParaRPr lang="en-US" dirty="0"/>
          </a:p>
          <a:p>
            <a:pPr lvl="0"/>
            <a:r>
              <a:rPr lang="en-IN" dirty="0"/>
              <a:t>City </a:t>
            </a:r>
            <a:endParaRPr lang="en-US" dirty="0"/>
          </a:p>
          <a:p>
            <a:pPr lvl="0"/>
            <a:r>
              <a:rPr lang="en-IN" dirty="0" err="1"/>
              <a:t>Pincode</a:t>
            </a:r>
            <a:r>
              <a:rPr lang="en-IN" dirty="0"/>
              <a:t> </a:t>
            </a:r>
            <a:endParaRPr lang="en-US" dirty="0"/>
          </a:p>
          <a:p>
            <a:r>
              <a:rPr lang="en-IN" dirty="0"/>
              <a:t>These details will be used for booking confirmation and service communication.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42A9BB-EA46-2BFA-7BA2-F05299A1E3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012" y="1275907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12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5E39-E639-E850-0368-6A40B7AC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AF3165-AF92-78A4-FC36-29FC1625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9. Booking Review Page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EC5EDF-CBD3-1BFA-78A2-8A3547F46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Before payment, the Booking View Page will display all booking information including:</a:t>
            </a:r>
            <a:endParaRPr lang="en-US" dirty="0"/>
          </a:p>
          <a:p>
            <a:pPr lvl="0"/>
            <a:r>
              <a:rPr lang="en-IN" dirty="0"/>
              <a:t>Vehicle Details </a:t>
            </a:r>
            <a:endParaRPr lang="en-US" dirty="0"/>
          </a:p>
          <a:p>
            <a:pPr lvl="0"/>
            <a:r>
              <a:rPr lang="en-IN" dirty="0"/>
              <a:t>Selected Services </a:t>
            </a:r>
            <a:endParaRPr lang="en-US" dirty="0"/>
          </a:p>
          <a:p>
            <a:pPr lvl="0"/>
            <a:r>
              <a:rPr lang="en-IN" dirty="0"/>
              <a:t>Service </a:t>
            </a:r>
            <a:r>
              <a:rPr lang="en-IN" dirty="0" err="1"/>
              <a:t>Center</a:t>
            </a:r>
            <a:r>
              <a:rPr lang="en-IN" dirty="0"/>
              <a:t> Details </a:t>
            </a:r>
            <a:endParaRPr lang="en-US" dirty="0"/>
          </a:p>
          <a:p>
            <a:pPr lvl="0"/>
            <a:r>
              <a:rPr lang="en-IN" dirty="0"/>
              <a:t>Booking Date &amp; Time </a:t>
            </a:r>
            <a:endParaRPr lang="en-US" dirty="0"/>
          </a:p>
          <a:p>
            <a:pPr lvl="0"/>
            <a:r>
              <a:rPr lang="en-IN" dirty="0"/>
              <a:t>Address Information </a:t>
            </a:r>
            <a:endParaRPr lang="en-US" dirty="0"/>
          </a:p>
          <a:p>
            <a:pPr lvl="0"/>
            <a:r>
              <a:rPr lang="en-IN" dirty="0"/>
              <a:t>Total Amount </a:t>
            </a:r>
            <a:endParaRPr lang="en-US" dirty="0"/>
          </a:p>
          <a:p>
            <a:r>
              <a:rPr lang="en-IN" dirty="0"/>
              <a:t>Users can verify all details before proceeding.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5EDEDC-6B1B-0DCE-EA8E-B7BF7E6E89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319" y="1275907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1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DC878-BD66-9D34-5CE2-4B54A283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AC0EBC-839A-EBD5-C698-2F2B5BD8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10. Payment Process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648511-31BC-49E4-8146-410D8771A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The application supports multiple payment methods:</a:t>
            </a:r>
            <a:endParaRPr lang="en-US" dirty="0"/>
          </a:p>
          <a:p>
            <a:pPr lvl="0"/>
            <a:r>
              <a:rPr lang="en-IN" dirty="0"/>
              <a:t>Online Payment </a:t>
            </a:r>
            <a:endParaRPr lang="en-US" dirty="0"/>
          </a:p>
          <a:p>
            <a:pPr lvl="0"/>
            <a:r>
              <a:rPr lang="en-IN" dirty="0"/>
              <a:t>Cash Payment </a:t>
            </a:r>
            <a:endParaRPr lang="en-US" dirty="0"/>
          </a:p>
          <a:p>
            <a:r>
              <a:rPr lang="en-IN" dirty="0"/>
              <a:t>After successful payment, users will see the Payment Successful Page with booking confirmation details.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CE8609-5256-5B05-E42A-85A715B741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38" y="1134509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46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32C6-CE46-DEE3-4A8F-2F94D6FC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B87284-0EA0-2BE9-0DF6-4D48E3C2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11. Booking Tracking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09175E-D395-CF87-B2B3-830508978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Users can track their booking status in real time through the Track Booking feature.</a:t>
            </a:r>
            <a:endParaRPr lang="en-US" dirty="0"/>
          </a:p>
          <a:p>
            <a:r>
              <a:rPr lang="en-IN" dirty="0"/>
              <a:t>Booking stages include:</a:t>
            </a:r>
            <a:endParaRPr lang="en-US" dirty="0"/>
          </a:p>
          <a:p>
            <a:pPr lvl="0"/>
            <a:r>
              <a:rPr lang="en-IN" dirty="0"/>
              <a:t>Booking Requested </a:t>
            </a:r>
            <a:endParaRPr lang="en-US" dirty="0"/>
          </a:p>
          <a:p>
            <a:pPr lvl="0"/>
            <a:r>
              <a:rPr lang="en-IN" dirty="0"/>
              <a:t>Booking Accepted </a:t>
            </a:r>
            <a:endParaRPr lang="en-US" dirty="0"/>
          </a:p>
          <a:p>
            <a:pPr lvl="0"/>
            <a:r>
              <a:rPr lang="en-IN" dirty="0"/>
              <a:t>Service In Progress </a:t>
            </a:r>
            <a:endParaRPr lang="en-US" dirty="0"/>
          </a:p>
          <a:p>
            <a:pPr lvl="0"/>
            <a:r>
              <a:rPr lang="en-IN" dirty="0"/>
              <a:t>Completed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21D439-2BF3-62A0-C8B0-27CFC9DF09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38" y="1253331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4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A194-225B-8039-C0F8-25EEE5BC4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1A0609-51FF-3DDB-7C1F-6E1B87438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12. Your Orders Section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863F40-1EEF-E9E9-8964-FA9B50232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All booking history and active bookings will be available in the Your Orders section.</a:t>
            </a:r>
            <a:endParaRPr lang="en-US" dirty="0"/>
          </a:p>
          <a:p>
            <a:r>
              <a:rPr lang="en-IN" dirty="0"/>
              <a:t>Users can:</a:t>
            </a:r>
            <a:endParaRPr lang="en-US" dirty="0"/>
          </a:p>
          <a:p>
            <a:pPr lvl="0"/>
            <a:r>
              <a:rPr lang="en-IN" dirty="0"/>
              <a:t>View booking details </a:t>
            </a:r>
            <a:endParaRPr lang="en-US" dirty="0"/>
          </a:p>
          <a:p>
            <a:pPr lvl="0"/>
            <a:r>
              <a:rPr lang="en-IN" dirty="0"/>
              <a:t>Open tracking information </a:t>
            </a:r>
            <a:endParaRPr lang="en-US" dirty="0"/>
          </a:p>
          <a:p>
            <a:pPr lvl="0"/>
            <a:r>
              <a:rPr lang="en-IN" dirty="0"/>
              <a:t>Check service status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FF5F29-2EBA-0ADA-A982-68F836170C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607" y="1253331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1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92039-0B04-0218-4C7D-F2CD5E46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2AB66D-3147-D81B-63AF-2A3D2A7D2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13. Live Vendor Tracking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411F40-56B0-22AF-A754-35FF4298B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Once the booking is accepted by the vendor/service person, users can track the service person live through the map tracking feature.</a:t>
            </a:r>
            <a:endParaRPr lang="en-US" dirty="0"/>
          </a:p>
          <a:p>
            <a:r>
              <a:rPr lang="en-IN" dirty="0"/>
              <a:t>Tracking features include:</a:t>
            </a:r>
            <a:endParaRPr lang="en-US" dirty="0"/>
          </a:p>
          <a:p>
            <a:pPr lvl="0"/>
            <a:r>
              <a:rPr lang="en-IN" dirty="0"/>
              <a:t>Live Location Tracking </a:t>
            </a:r>
            <a:endParaRPr lang="en-US" dirty="0"/>
          </a:p>
          <a:p>
            <a:pPr lvl="0"/>
            <a:r>
              <a:rPr lang="en-IN" dirty="0"/>
              <a:t>Distance Information </a:t>
            </a:r>
            <a:endParaRPr lang="en-US" dirty="0"/>
          </a:p>
          <a:p>
            <a:pPr lvl="0"/>
            <a:r>
              <a:rPr lang="en-IN" dirty="0"/>
              <a:t>Estimated Arrival Time (Minutes)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73FA61-7651-50B0-839A-C8945341A5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26" y="1166407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56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DC065-884E-048F-6C6E-AF5B61D21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C89C52-BEE4-9BB4-6775-89CA431A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14. Bill Upload &amp; PDF Download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DDD848-7FBB-3BA6-6B5B-62C207A01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5785885" cy="4901056"/>
          </a:xfrm>
        </p:spPr>
        <p:txBody>
          <a:bodyPr/>
          <a:lstStyle/>
          <a:p>
            <a:r>
              <a:rPr lang="en-IN" dirty="0"/>
              <a:t>After service completion:</a:t>
            </a:r>
            <a:endParaRPr lang="en-US" dirty="0"/>
          </a:p>
          <a:p>
            <a:pPr lvl="0"/>
            <a:r>
              <a:rPr lang="en-IN" dirty="0"/>
              <a:t>Vendors can upload the service bill </a:t>
            </a:r>
            <a:endParaRPr lang="en-US" dirty="0"/>
          </a:p>
          <a:p>
            <a:pPr lvl="0"/>
            <a:r>
              <a:rPr lang="en-IN" dirty="0"/>
              <a:t>Users can download the bill in PDF format </a:t>
            </a:r>
            <a:endParaRPr lang="en-US" dirty="0"/>
          </a:p>
          <a:p>
            <a:pPr lvl="0"/>
            <a:r>
              <a:rPr lang="en-IN" dirty="0"/>
              <a:t>Complete service booking details can also be downloaded as PDF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BB4461-C62F-6440-66B9-C7A5953EC3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319" y="1275907"/>
            <a:ext cx="1952962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881487-8FA6-16B0-0697-15DFCA737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302" y="1275907"/>
            <a:ext cx="1999507" cy="445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7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D2D7C-14A0-73F1-4B6B-97529F6F0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1812E-E537-05AD-2343-41A06319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15. Spare Parts Purchase Module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FA1129-285C-37BA-8CC1-631153961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Users can also purchase spare parts through the application.</a:t>
            </a:r>
            <a:endParaRPr lang="en-US" dirty="0"/>
          </a:p>
          <a:p>
            <a:r>
              <a:rPr lang="en-IN" dirty="0"/>
              <a:t>Available spare parts categories:</a:t>
            </a:r>
            <a:endParaRPr lang="en-US" dirty="0"/>
          </a:p>
          <a:p>
            <a:pPr lvl="0"/>
            <a:r>
              <a:rPr lang="en-IN" dirty="0"/>
              <a:t>Bike Spare Parts </a:t>
            </a:r>
            <a:endParaRPr lang="en-US" dirty="0"/>
          </a:p>
          <a:p>
            <a:pPr lvl="0"/>
            <a:r>
              <a:rPr lang="en-IN" dirty="0"/>
              <a:t>Car Spare Parts </a:t>
            </a:r>
            <a:endParaRPr lang="en-US" dirty="0"/>
          </a:p>
          <a:p>
            <a:pPr lvl="0"/>
            <a:r>
              <a:rPr lang="en-IN" dirty="0"/>
              <a:t>Heavy Vehicle Spare Parts </a:t>
            </a:r>
            <a:endParaRPr lang="en-US" dirty="0"/>
          </a:p>
          <a:p>
            <a:r>
              <a:rPr lang="en-IN" dirty="0"/>
              <a:t>Features included:</a:t>
            </a:r>
            <a:endParaRPr lang="en-US" dirty="0"/>
          </a:p>
          <a:p>
            <a:pPr lvl="0"/>
            <a:r>
              <a:rPr lang="en-IN" dirty="0"/>
              <a:t>Spare parts listing </a:t>
            </a:r>
            <a:endParaRPr lang="en-US" dirty="0"/>
          </a:p>
          <a:p>
            <a:pPr lvl="0"/>
            <a:r>
              <a:rPr lang="en-IN" dirty="0"/>
              <a:t>Product details view </a:t>
            </a:r>
            <a:endParaRPr lang="en-US" dirty="0"/>
          </a:p>
          <a:p>
            <a:pPr lvl="0"/>
            <a:r>
              <a:rPr lang="en-IN" dirty="0"/>
              <a:t>Order tracking </a:t>
            </a:r>
            <a:endParaRPr lang="en-US" dirty="0"/>
          </a:p>
          <a:p>
            <a:pPr lvl="0"/>
            <a:r>
              <a:rPr lang="en-IN" dirty="0"/>
              <a:t>Delivery tracking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F14377-9AF4-EF51-5E6A-B3395CE91B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266" y="1253331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81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AFBF8-F93F-F038-9B14-545C75E9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C6FFF5-B277-96DD-D688-0D4040A5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16. Notification Module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F496B6-8E07-4272-BFC6-2E01C93DC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The Notification Page helps users receive real-time updates such as:</a:t>
            </a:r>
            <a:endParaRPr lang="en-US" dirty="0"/>
          </a:p>
          <a:p>
            <a:pPr lvl="0"/>
            <a:r>
              <a:rPr lang="en-IN" dirty="0"/>
              <a:t>Booking confirmation </a:t>
            </a:r>
            <a:endParaRPr lang="en-US" dirty="0"/>
          </a:p>
          <a:p>
            <a:pPr lvl="0"/>
            <a:r>
              <a:rPr lang="en-IN" dirty="0"/>
              <a:t>Payment updates </a:t>
            </a:r>
            <a:endParaRPr lang="en-US" dirty="0"/>
          </a:p>
          <a:p>
            <a:pPr lvl="0"/>
            <a:r>
              <a:rPr lang="en-IN" dirty="0"/>
              <a:t>Service status updates </a:t>
            </a:r>
            <a:endParaRPr lang="en-US" dirty="0"/>
          </a:p>
          <a:p>
            <a:pPr lvl="0"/>
            <a:r>
              <a:rPr lang="en-IN" dirty="0"/>
              <a:t>Offer notifications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5172F3-C1E3-985F-9109-56AD9822EC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38" y="1253331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22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79124-3C48-56D1-476B-D7F8823F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C50882-5019-78AC-6ADA-16B28DF4E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17. Subscription Page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BF0022-D3CF-32ED-08FC-82AC5E501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Users can access the Subscription Page to view available subscription plans and benefits.</a:t>
            </a:r>
            <a:endParaRPr lang="en-US" dirty="0"/>
          </a:p>
          <a:p>
            <a:r>
              <a:rPr lang="en-IN" dirty="0"/>
              <a:t>Subscription features include:</a:t>
            </a:r>
            <a:endParaRPr lang="en-US" dirty="0"/>
          </a:p>
          <a:p>
            <a:pPr lvl="0"/>
            <a:r>
              <a:rPr lang="en-IN" dirty="0"/>
              <a:t>Plan Details </a:t>
            </a:r>
            <a:endParaRPr lang="en-US" dirty="0"/>
          </a:p>
          <a:p>
            <a:pPr lvl="0"/>
            <a:r>
              <a:rPr lang="en-IN" dirty="0"/>
              <a:t>Pricing Information </a:t>
            </a:r>
            <a:endParaRPr lang="en-US" dirty="0"/>
          </a:p>
          <a:p>
            <a:pPr lvl="0"/>
            <a:r>
              <a:rPr lang="en-IN" dirty="0"/>
              <a:t>Service Benefits </a:t>
            </a:r>
            <a:endParaRPr lang="en-US" dirty="0"/>
          </a:p>
          <a:p>
            <a:pPr lvl="0"/>
            <a:r>
              <a:rPr lang="en-IN" dirty="0"/>
              <a:t>Subscription Activation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199007-52D5-ED1A-473D-90DCF444AC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729" y="1031358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65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D94A5-B3BC-D31B-05F8-9E913A9A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A4F9D4-D240-BB6B-90F3-D3B33573A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18. Profile Page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F3ECA0-0744-2C65-FFF1-B54E54FBF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5907"/>
            <a:ext cx="8263271" cy="4901056"/>
          </a:xfrm>
        </p:spPr>
        <p:txBody>
          <a:bodyPr/>
          <a:lstStyle/>
          <a:p>
            <a:r>
              <a:rPr lang="en-IN" dirty="0"/>
              <a:t>The Profile Page allows users to manage their personal information.</a:t>
            </a:r>
            <a:endParaRPr lang="en-US" dirty="0"/>
          </a:p>
          <a:p>
            <a:r>
              <a:rPr lang="en-IN" dirty="0"/>
              <a:t>Users can:</a:t>
            </a:r>
            <a:endParaRPr lang="en-US" dirty="0"/>
          </a:p>
          <a:p>
            <a:pPr lvl="0"/>
            <a:r>
              <a:rPr lang="en-IN" dirty="0"/>
              <a:t>Edit profile details </a:t>
            </a:r>
            <a:endParaRPr lang="en-US" dirty="0"/>
          </a:p>
          <a:p>
            <a:pPr lvl="0"/>
            <a:r>
              <a:rPr lang="en-IN" dirty="0"/>
              <a:t>Update contact information </a:t>
            </a:r>
            <a:endParaRPr lang="en-US" dirty="0"/>
          </a:p>
          <a:p>
            <a:pPr lvl="0"/>
            <a:r>
              <a:rPr lang="en-IN" dirty="0"/>
              <a:t>Manage saved vehicles </a:t>
            </a:r>
            <a:endParaRPr lang="en-US" dirty="0"/>
          </a:p>
          <a:p>
            <a:pPr lvl="0"/>
            <a:r>
              <a:rPr lang="en-IN" dirty="0"/>
              <a:t>View account settings 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D9D3C1-864D-619D-C2B6-6CBC41FD08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445" y="1123876"/>
            <a:ext cx="1952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94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EB1D-44CC-01FE-2309-71723D17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782"/>
          </a:xfrm>
        </p:spPr>
        <p:txBody>
          <a:bodyPr/>
          <a:lstStyle/>
          <a:p>
            <a:r>
              <a:rPr lang="en-IN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2C134-C389-8BB5-9932-9DB92AC49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95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IWS User Application provides a complete end-to-end vehicle service management experience including vehicle registration, service booking, live tracking, online payment, spare parts purchase, billing management, and subscription services through a user-friendly interface.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7B550C-9A35-9A16-39F5-E3C4BE28E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778" y="4452025"/>
            <a:ext cx="3264440" cy="131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75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724</Words>
  <Application>Microsoft Office PowerPoint</Application>
  <PresentationFormat>Widescreen</PresentationFormat>
  <Paragraphs>122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IWS USER APP – USER FLOW DOCUMENTATION </vt:lpstr>
      <vt:lpstr>1. User Registration</vt:lpstr>
      <vt:lpstr>2. User Login</vt:lpstr>
      <vt:lpstr>3. Home Page &amp; Service Category Selection</vt:lpstr>
      <vt:lpstr>4. Vehicle Registration</vt:lpstr>
      <vt:lpstr>5. Service Selection &amp; Manual Report</vt:lpstr>
      <vt:lpstr>6. Service Center Selection</vt:lpstr>
      <vt:lpstr>7. Time Slot Booking</vt:lpstr>
      <vt:lpstr>8. Address Details</vt:lpstr>
      <vt:lpstr>9. Booking Review Page</vt:lpstr>
      <vt:lpstr>10. Payment Process</vt:lpstr>
      <vt:lpstr>11. Booking Tracking</vt:lpstr>
      <vt:lpstr>12. Your Orders Section</vt:lpstr>
      <vt:lpstr>13. Live Vendor Tracking</vt:lpstr>
      <vt:lpstr>14. Bill Upload &amp; PDF Download</vt:lpstr>
      <vt:lpstr>15. Spare Parts Purchase Module</vt:lpstr>
      <vt:lpstr>16. Notification Module</vt:lpstr>
      <vt:lpstr>17. Subscription Page</vt:lpstr>
      <vt:lpstr>18. Profile Page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Vijaykumar s</dc:creator>
  <cp:lastModifiedBy>Vijaykumar s</cp:lastModifiedBy>
  <cp:revision>1</cp:revision>
  <dcterms:created xsi:type="dcterms:W3CDTF">2026-05-30T09:39:01Z</dcterms:created>
  <dcterms:modified xsi:type="dcterms:W3CDTF">2026-05-30T10:53:49Z</dcterms:modified>
</cp:coreProperties>
</file>